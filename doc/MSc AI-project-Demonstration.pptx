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6"/>
  </p:notesMasterIdLst>
  <p:handoutMasterIdLst>
    <p:handoutMasterId r:id="rId11"/>
  </p:handoutMasterIdLst>
  <p:sldIdLst>
    <p:sldId id="256" r:id="rId3"/>
    <p:sldId id="257" r:id="rId4"/>
    <p:sldId id="286" r:id="rId5"/>
    <p:sldId id="259" r:id="rId7"/>
    <p:sldId id="287" r:id="rId8"/>
    <p:sldId id="288" r:id="rId9"/>
    <p:sldId id="289" r:id="rId10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b="1"/>
              <a:t>1. Raspberrypi</a:t>
            </a:r>
            <a:endParaRPr lang="en-US" altLang="zh-CN" b="1"/>
          </a:p>
          <a:p>
            <a:r>
              <a:rPr lang="en-US" altLang="zh-CN"/>
              <a:t>clear &amp;&amp; cd ~/turtlebot3_ws &amp;&amp; ros2 launch turtlebot3_bringup robot.launch.py</a:t>
            </a:r>
            <a:endParaRPr lang="en-US" altLang="zh-CN"/>
          </a:p>
          <a:p>
            <a:endParaRPr lang="en-US" altLang="zh-CN"/>
          </a:p>
          <a:p>
            <a:r>
              <a:rPr lang="en-US" altLang="zh-CN" b="1"/>
              <a:t>2. Jetson Orin Nano</a:t>
            </a:r>
            <a:endParaRPr lang="en-US" altLang="zh-CN" b="1"/>
          </a:p>
          <a:p>
            <a:r>
              <a:rPr lang="en-US" altLang="zh-CN" b="1"/>
              <a:t>2.1. Stereo Camera</a:t>
            </a:r>
            <a:endParaRPr lang="en-US" altLang="zh-CN" b="1"/>
          </a:p>
          <a:p>
            <a:r>
              <a:rPr lang="en-US" altLang="zh-CN"/>
              <a:t>clear &amp;&amp; cd ~/colcon_ws &amp;&amp; ros2 launch zed_wrapper zed_camera.launch.py | tee zed.log</a:t>
            </a:r>
            <a:endParaRPr lang="en-US" altLang="zh-CN"/>
          </a:p>
          <a:p>
            <a:r>
              <a:rPr lang="en-US" altLang="zh-CN" b="1"/>
              <a:t>2.2. SLAM node</a:t>
            </a:r>
            <a:endParaRPr lang="en-US" altLang="zh-CN" b="1"/>
          </a:p>
          <a:p>
            <a:r>
              <a:rPr lang="en-US" altLang="zh-CN"/>
              <a:t>clear &amp;&amp; cd ~/colcon_ws &amp;&amp; ros2 launch uoa_robot_drone orin_stereo_vslam.launch.py </a:t>
            </a:r>
            <a:r>
              <a:rPr lang="en-US" altLang="zh-CN">
                <a:sym typeface="+mn-ea"/>
              </a:rPr>
              <a:t>localization:=false | tee oriin_vslam.log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en-US" altLang="zh-CN" b="1"/>
              <a:t>3. PC</a:t>
            </a:r>
            <a:endParaRPr lang="en-US" altLang="zh-CN" b="1"/>
          </a:p>
          <a:p>
            <a:r>
              <a:rPr lang="en-US" altLang="zh-CN" b="1"/>
              <a:t>3.1. display nodes</a:t>
            </a:r>
            <a:endParaRPr lang="en-US" altLang="zh-CN" b="1"/>
          </a:p>
          <a:p>
            <a:r>
              <a:rPr lang="en-US" altLang="zh-CN"/>
              <a:t>clear &amp;&amp; cd ~/ros2_ws &amp;&amp; ros2 launch uoa_robot_drone pc_stereo_vslam.launch.py localization:=false | tee pc_vslam.log</a:t>
            </a:r>
            <a:endParaRPr lang="en-US" altLang="zh-CN"/>
          </a:p>
          <a:p>
            <a:r>
              <a:rPr lang="en-US" altLang="zh-CN" b="1"/>
              <a:t>3.2. operation node</a:t>
            </a:r>
            <a:endParaRPr lang="en-US" altLang="zh-CN" b="1"/>
          </a:p>
          <a:p>
            <a:r>
              <a:rPr lang="en-US" altLang="zh-CN"/>
              <a:t>clear &amp;&amp; cd ~/ros2_ws &amp;&amp; ros2 run turtlebot3_teleop teleop_keyboard</a:t>
            </a:r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b="1">
                <a:sym typeface="+mn-ea"/>
              </a:rPr>
              <a:t>1. Raspberrypi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~/turtlebot3_ws &amp;&amp; ros2 launch turtlebot3_bringup robot.launch.py</a:t>
            </a:r>
            <a:endParaRPr lang="en-US" altLang="zh-CN"/>
          </a:p>
          <a:p>
            <a:endParaRPr lang="en-US" altLang="zh-CN"/>
          </a:p>
          <a:p>
            <a:r>
              <a:rPr lang="en-US" altLang="zh-CN" b="1">
                <a:sym typeface="+mn-ea"/>
              </a:rPr>
              <a:t>2. Jetson Orin Nano</a:t>
            </a:r>
            <a:endParaRPr lang="en-US" altLang="zh-CN" b="1"/>
          </a:p>
          <a:p>
            <a:r>
              <a:rPr lang="en-US" altLang="zh-CN" b="1">
                <a:sym typeface="+mn-ea"/>
              </a:rPr>
              <a:t>2.1. Stereo Camera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~/colcon_ws &amp;&amp; ros2 launch zed_wrapper zed_camera.launch.py | tee zed.log</a:t>
            </a:r>
            <a:endParaRPr lang="en-US" altLang="zh-CN"/>
          </a:p>
          <a:p>
            <a:r>
              <a:rPr lang="en-US" altLang="zh-CN" b="1">
                <a:sym typeface="+mn-ea"/>
              </a:rPr>
              <a:t>2.2. SLAM node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~/colcon_ws &amp;&amp; ros2 launch uoa_robot_drone orin_stereo_vslam.launch.py </a:t>
            </a:r>
            <a:r>
              <a:rPr lang="en-US" altLang="zh-CN">
                <a:sym typeface="+mn-ea"/>
              </a:rPr>
              <a:t>localization:=true | tee oriin_vslam.log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en-US" altLang="zh-CN" b="1">
                <a:sym typeface="+mn-ea"/>
              </a:rPr>
              <a:t>3. PC</a:t>
            </a:r>
            <a:endParaRPr lang="en-US" altLang="zh-CN" b="1"/>
          </a:p>
          <a:p>
            <a:r>
              <a:rPr lang="en-US" altLang="zh-CN" b="1">
                <a:sym typeface="+mn-ea"/>
              </a:rPr>
              <a:t>3.1. display nodes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~/ros2_ws &amp;&amp; ros2 launch uoa_robot_drone pc_stereo_vslam.launch.py localization:=true | pc_vslam.log</a:t>
            </a:r>
            <a:endParaRPr lang="en-US" altLang="zh-CN"/>
          </a:p>
          <a:p>
            <a:r>
              <a:rPr lang="en-US" altLang="zh-CN" b="1">
                <a:sym typeface="+mn-ea"/>
              </a:rPr>
              <a:t>3.2. operation node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~/ros2_ws &amp;&amp; ros2 run turtlebot3_teleop teleop_keyboard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b="1">
                <a:sym typeface="+mn-ea"/>
              </a:rPr>
              <a:t>1. Raspberrypi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~/turtlebot3_ws &amp;&amp; ros2 launch turtlebot3_bringup robot.launch.py</a:t>
            </a:r>
            <a:endParaRPr lang="en-US" altLang="zh-CN"/>
          </a:p>
          <a:p>
            <a:endParaRPr lang="en-US" altLang="zh-CN"/>
          </a:p>
          <a:p>
            <a:r>
              <a:rPr lang="en-US" altLang="zh-CN" b="1">
                <a:sym typeface="+mn-ea"/>
              </a:rPr>
              <a:t>2. Jetson Orin Nano</a:t>
            </a:r>
            <a:endParaRPr lang="en-US" altLang="zh-CN" b="1"/>
          </a:p>
          <a:p>
            <a:r>
              <a:rPr lang="en-US" altLang="zh-CN" b="1">
                <a:sym typeface="+mn-ea"/>
              </a:rPr>
              <a:t>2.1. Stereo Camera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~/colcon_ws &amp;&amp; ros2 launch zed_wrapper zed_camera.launch.py | tee zed.log</a:t>
            </a:r>
            <a:endParaRPr lang="en-US" altLang="zh-CN"/>
          </a:p>
          <a:p>
            <a:r>
              <a:rPr lang="en-US" altLang="zh-CN" b="1">
                <a:sym typeface="+mn-ea"/>
              </a:rPr>
              <a:t>2.2. SLAM node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~/colcon_ws &amp;&amp; ros2 launch uoa_robot_drone orin_stereo_vslam.launch.py localization:=true | tee oriin_vslam.log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en-US" altLang="zh-CN" b="1">
                <a:sym typeface="+mn-ea"/>
              </a:rPr>
              <a:t>3. PC</a:t>
            </a:r>
            <a:endParaRPr lang="en-US" altLang="zh-CN" b="1"/>
          </a:p>
          <a:p>
            <a:r>
              <a:rPr lang="en-US" altLang="zh-CN" b="1">
                <a:sym typeface="+mn-ea"/>
              </a:rPr>
              <a:t>3.1. display nodes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~/ros2_ws &amp;&amp; ros2 launch uoa_robot_drone pc_stereo_vslam.launch.py localization:=true </a:t>
            </a:r>
            <a:r>
              <a:rPr lang="en-US" altLang="zh-CN">
                <a:sym typeface="+mn-ea"/>
              </a:rPr>
              <a:t>with_drone:=true | tee pc_vslam.log</a:t>
            </a:r>
            <a:endParaRPr lang="en-US" altLang="zh-CN"/>
          </a:p>
          <a:p>
            <a:r>
              <a:rPr lang="en-US" altLang="zh-CN" b="1">
                <a:sym typeface="+mn-ea"/>
              </a:rPr>
              <a:t>3.2. operation node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~/ros2_ws &amp;&amp; ros2 run turtlebot3_teleop teleop_keyboard</a:t>
            </a:r>
            <a:endParaRPr lang="en-US" altLang="zh-CN"/>
          </a:p>
          <a:p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 b="1">
                <a:sym typeface="+mn-ea"/>
              </a:rPr>
              <a:t>1. Raspberrypi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~/turtlebot3_ws &amp;&amp; ros2 launch turtlebot3_bringup robot.launch.py</a:t>
            </a:r>
            <a:endParaRPr lang="en-US" altLang="zh-CN"/>
          </a:p>
          <a:p>
            <a:endParaRPr lang="en-US" altLang="zh-CN"/>
          </a:p>
          <a:p>
            <a:r>
              <a:rPr lang="en-US" altLang="zh-CN" b="1">
                <a:sym typeface="+mn-ea"/>
              </a:rPr>
              <a:t>2. Jetson Orin Nano</a:t>
            </a:r>
            <a:endParaRPr lang="en-US" altLang="zh-CN" b="1"/>
          </a:p>
          <a:p>
            <a:r>
              <a:rPr lang="en-US" altLang="zh-CN" b="1">
                <a:sym typeface="+mn-ea"/>
              </a:rPr>
              <a:t>2.1. Stereo Camera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~/colcon_ws &amp;&amp; ros2 launch zed_wrapper zed_camera.launch.py | tee zed.log</a:t>
            </a:r>
            <a:endParaRPr lang="en-US" altLang="zh-CN"/>
          </a:p>
          <a:p>
            <a:r>
              <a:rPr lang="en-US" altLang="zh-CN" b="1">
                <a:sym typeface="+mn-ea"/>
              </a:rPr>
              <a:t>2.2. SLAM node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~/colcon_ws &amp;&amp; ros2 launch uoa_robot_drone orin_stereo_vslam.launch.py localization:=true | tee oriin_vslam.log</a:t>
            </a:r>
            <a:endParaRPr lang="en-US" altLang="zh-CN">
              <a:sym typeface="+mn-ea"/>
            </a:endParaRPr>
          </a:p>
          <a:p>
            <a:endParaRPr lang="en-US" altLang="zh-CN"/>
          </a:p>
          <a:p>
            <a:r>
              <a:rPr lang="en-US" altLang="zh-CN" b="1">
                <a:sym typeface="+mn-ea"/>
              </a:rPr>
              <a:t>3. PC</a:t>
            </a:r>
            <a:endParaRPr lang="en-US" altLang="zh-CN" b="1"/>
          </a:p>
          <a:p>
            <a:r>
              <a:rPr lang="en-US" altLang="zh-CN" b="1">
                <a:sym typeface="+mn-ea"/>
              </a:rPr>
              <a:t>3.1. display nodes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~/ros2_ws &amp;&amp; ros2 launch uoa_robot_drone nav2_navigation.launch.py localization:=true | tee pc_vslam.log</a:t>
            </a:r>
            <a:endParaRPr lang="en-US" altLang="zh-CN"/>
          </a:p>
          <a:p>
            <a:r>
              <a:rPr lang="en-US" altLang="zh-CN" b="1">
                <a:sym typeface="+mn-ea"/>
              </a:rPr>
              <a:t>3.2. operation node</a:t>
            </a:r>
            <a:endParaRPr lang="en-US" altLang="zh-CN" b="1"/>
          </a:p>
          <a:p>
            <a:r>
              <a:rPr lang="en-US" altLang="zh-CN">
                <a:sym typeface="+mn-ea"/>
              </a:rPr>
              <a:t>clear &amp;&amp; cd ~/ros2_ws &amp;&amp; ros2 run turtlebot3_teleop teleop_keyboard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585" y="236220"/>
            <a:ext cx="7886700" cy="57658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4800" b="1">
                <a:solidFill>
                  <a:srgbClr val="80008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7080" y="1104900"/>
            <a:ext cx="78867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0" name="path 50"/>
          <p:cNvSpPr/>
          <p:nvPr userDrawn="1"/>
        </p:nvSpPr>
        <p:spPr>
          <a:xfrm>
            <a:off x="534162" y="835151"/>
            <a:ext cx="8458200" cy="38100"/>
          </a:xfrm>
          <a:custGeom>
            <a:avLst/>
            <a:gdLst/>
            <a:ahLst/>
            <a:cxnLst/>
            <a:rect l="0" t="0" r="0" b="0"/>
            <a:pathLst>
              <a:path w="13320" h="60">
                <a:moveTo>
                  <a:pt x="0" y="30"/>
                </a:moveTo>
                <a:lnTo>
                  <a:pt x="13320" y="30"/>
                </a:lnTo>
              </a:path>
            </a:pathLst>
          </a:custGeom>
          <a:noFill/>
          <a:ln w="38100" cap="flat">
            <a:solidFill>
              <a:srgbClr val="800080"/>
            </a:solidFill>
            <a:prstDash val="solid"/>
            <a:round/>
          </a:ln>
        </p:spPr>
        <p:txBody>
          <a:bodyPr rtlCol="0"/>
          <a:p>
            <a:pPr algn="ctr"/>
            <a:endParaRPr lang="zh-CN" altLang="en-US"/>
          </a:p>
        </p:txBody>
      </p:sp>
      <p:pic>
        <p:nvPicPr>
          <p:cNvPr id="40" name="picture 4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1600000">
            <a:off x="533400" y="6306311"/>
            <a:ext cx="8458961" cy="385572"/>
          </a:xfrm>
          <a:prstGeom prst="rect">
            <a:avLst/>
          </a:prstGeom>
        </p:spPr>
      </p:pic>
      <p:sp>
        <p:nvSpPr>
          <p:cNvPr id="9" name="文本框 8"/>
          <p:cNvSpPr txBox="1"/>
          <p:nvPr userDrawn="1"/>
        </p:nvSpPr>
        <p:spPr>
          <a:xfrm>
            <a:off x="8084820" y="6417945"/>
            <a:ext cx="9074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fld id="{9A0DB2DC-4C9A-4742-B13C-FB6460FD3503}" type="slidenum">
              <a:rPr lang="zh-CN" altLang="en-US" sz="1600" b="1">
                <a:solidFill>
                  <a:srgbClr val="800080"/>
                </a:solidFill>
                <a:latin typeface="Times New Roman" panose="02020603050405020304" charset="0"/>
                <a:cs typeface="Times New Roman" panose="02020603050405020304" charset="0"/>
              </a:rPr>
            </a:fld>
            <a:endParaRPr lang="zh-CN" altLang="en-US" sz="1600" b="1">
              <a:solidFill>
                <a:srgbClr val="800080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3751117"/>
            <a:ext cx="5491163" cy="81135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610028"/>
            <a:ext cx="5491163" cy="64755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5775" y="258445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8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85775" y="1825625"/>
            <a:ext cx="38862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486275" y="1825625"/>
            <a:ext cx="38862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50000"/>
              </a:lnSpc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744961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615609"/>
            <a:ext cx="3868340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744961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615609"/>
            <a:ext cx="3887391" cy="357405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6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485060" y="127000"/>
            <a:ext cx="3123900" cy="16002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>
              <a:defRPr sz="1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3888000" y="766354"/>
            <a:ext cx="4363031" cy="509444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88870" y="2057400"/>
            <a:ext cx="3123900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368363" y="365125"/>
            <a:ext cx="1146987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7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665996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551543"/>
            <a:ext cx="7886700" cy="5558971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7" Type="http://schemas.openxmlformats.org/officeDocument/2006/relationships/theme" Target="../theme/theme1.xml"/><Relationship Id="rId36" Type="http://schemas.openxmlformats.org/officeDocument/2006/relationships/slideLayout" Target="../slideLayouts/slideLayout36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438912" y="286511"/>
          <a:ext cx="8343899" cy="6285865"/>
        </p:xfrm>
        <a:graphic>
          <a:graphicData uri="http://schemas.openxmlformats.org/drawingml/2006/table">
            <a:tbl>
              <a:tblPr/>
              <a:tblGrid>
                <a:gridCol w="5012689"/>
                <a:gridCol w="3331209"/>
              </a:tblGrid>
              <a:tr h="244856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38100" cap="flat" cmpd="sng" algn="ctr">
                      <a:solidFill>
                        <a:srgbClr val="66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rgbClr val="66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38100" cap="flat" cmpd="sng" algn="ctr">
                      <a:solidFill>
                        <a:srgbClr val="66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66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3837304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8185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3600" b="1" kern="0" dirty="0">
                          <a:solidFill>
                            <a:srgbClr val="660066">
                              <a:alpha val="100000"/>
                            </a:srgbClr>
                          </a:solidFill>
                          <a:latin typeface="Calibri"/>
                          <a:ea typeface="Calibri"/>
                          <a:cs typeface="Calibri"/>
                        </a:rPr>
                        <a:t>Pure Vision SLAM Engineering in Edge Computing Embedded Systems</a:t>
                      </a:r>
                      <a:endParaRPr sz="3600" b="1" kern="0" dirty="0">
                        <a:solidFill>
                          <a:srgbClr val="660066">
                            <a:alpha val="100000"/>
                          </a:srgbClr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ctr" rtl="0" eaLnBrk="0">
                        <a:lnSpc>
                          <a:spcPct val="115000"/>
                        </a:lnSpc>
                      </a:pPr>
                      <a:r>
                        <a:rPr lang="en-US"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Supervisor:</a:t>
                      </a:r>
                      <a:r>
                        <a:rPr sz="24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Dewei Yi</a:t>
                      </a:r>
                      <a:endParaRPr sz="2400" kern="0" spc="-20" dirty="0">
                        <a:solidFill>
                          <a:srgbClr val="000000">
                            <a:alpha val="100000"/>
                          </a:srgbClr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ctr" rtl="0" eaLnBrk="0">
                        <a:lnSpc>
                          <a:spcPct val="115000"/>
                        </a:lnSpc>
                      </a:pPr>
                      <a:r>
                        <a:rPr lang="en-US" sz="2400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Student: Jian Chen</a:t>
                      </a:r>
                      <a:endParaRPr lang="en-US" sz="24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  <a:p>
                      <a:pPr algn="ctr" rtl="0" eaLnBrk="0">
                        <a:lnSpc>
                          <a:spcPct val="115000"/>
                        </a:lnSpc>
                      </a:pP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Department</a:t>
                      </a:r>
                      <a:r>
                        <a:rPr sz="2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of</a:t>
                      </a:r>
                      <a:r>
                        <a:rPr sz="2400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Computing</a:t>
                      </a:r>
                      <a:r>
                        <a:rPr sz="24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sz="24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Science</a:t>
                      </a:r>
                      <a:endParaRPr sz="2400" dirty="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marL="0" marR="0" marT="0" marB="0" vert="horz">
                    <a:lnL w="38100" cap="flat" cmpd="sng" algn="ctr">
                      <a:solidFill>
                        <a:srgbClr val="66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66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38100" cap="flat" cmpd="sng" algn="ctr">
                      <a:solidFill>
                        <a:srgbClr val="66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66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rgbClr val="6600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box 4"/>
          <p:cNvSpPr/>
          <p:nvPr/>
        </p:nvSpPr>
        <p:spPr>
          <a:xfrm>
            <a:off x="706755" y="560070"/>
            <a:ext cx="3962400" cy="1078230"/>
          </a:xfrm>
          <a:prstGeom prst="roundRect">
            <a:avLst>
              <a:gd name="adj" fmla="val 17241"/>
            </a:avLst>
          </a:prstGeom>
          <a:solidFill>
            <a:srgbClr val="660066">
              <a:alpha val="100000"/>
            </a:srgbClr>
          </a:solidFill>
          <a:ln w="12700" cap="flat">
            <a:solidFill>
              <a:srgbClr val="660066"/>
            </a:solidFill>
            <a:prstDash val="solid"/>
            <a:miter lim="0"/>
          </a:ln>
        </p:spPr>
        <p:txBody>
          <a:bodyPr vert="horz" wrap="square" lIns="0" tIns="0" rIns="0" bIns="0" anchor="ctr" anchorCtr="0"/>
          <a:lstStyle/>
          <a:p>
            <a:pPr algn="ctr" rtl="0" eaLnBrk="0">
              <a:lnSpc>
                <a:spcPct val="107000"/>
              </a:lnSpc>
            </a:pPr>
            <a:r>
              <a:rPr lang="en-US" sz="3200" b="1" dirty="0">
                <a:solidFill>
                  <a:schemeClr val="bg1"/>
                </a:solidFill>
                <a:latin typeface="Tahoma"/>
                <a:ea typeface="Tahoma"/>
                <a:cs typeface="Tahoma"/>
              </a:rPr>
              <a:t>Demonstration</a:t>
            </a:r>
            <a:endParaRPr lang="en-US" sz="3200" b="1" dirty="0">
              <a:solidFill>
                <a:schemeClr val="bg1"/>
              </a:solidFill>
              <a:latin typeface="Tahoma"/>
              <a:ea typeface="Tahoma"/>
              <a:cs typeface="Tahoma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324600" y="381000"/>
            <a:ext cx="2286000" cy="79400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kern="0" dirty="0">
                <a:solidFill>
                  <a:srgbClr val="660066">
                    <a:alpha val="100000"/>
                  </a:srgbClr>
                </a:solidFill>
                <a:latin typeface="Calibri"/>
                <a:ea typeface="Calibri"/>
                <a:cs typeface="Calibri"/>
                <a:sym typeface="+mn-ea"/>
              </a:rPr>
              <a:t>Content</a:t>
            </a:r>
            <a:endParaRPr lang="zh-CN" altLang="en-US"/>
          </a:p>
        </p:txBody>
      </p:sp>
      <p:sp>
        <p:nvSpPr>
          <p:cNvPr id="8" name="textbox 8"/>
          <p:cNvSpPr/>
          <p:nvPr/>
        </p:nvSpPr>
        <p:spPr>
          <a:xfrm>
            <a:off x="1681480" y="892810"/>
            <a:ext cx="6781800" cy="41008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 anchor="ctr" anchorCtr="0"/>
          <a:lstStyle/>
          <a:p>
            <a:pPr marL="457200" indent="-457200" algn="l" rtl="0" eaLnBrk="0">
              <a:lnSpc>
                <a:spcPct val="81000"/>
              </a:lnSpc>
              <a:buFont typeface="Wingdings" charset="0"/>
              <a:buChar char=""/>
            </a:pPr>
            <a:r>
              <a:rPr lang="en-US" sz="2800" b="1" dirty="0">
                <a:latin typeface="Calibri"/>
                <a:ea typeface="Calibri"/>
                <a:cs typeface="Calibri"/>
              </a:rPr>
              <a:t>Part 1: Building map</a:t>
            </a:r>
            <a:endParaRPr lang="en-US" sz="2800" b="1" dirty="0">
              <a:latin typeface="Calibri"/>
              <a:ea typeface="Calibri"/>
              <a:cs typeface="Calibri"/>
            </a:endParaRPr>
          </a:p>
          <a:p>
            <a:pPr marL="457200" indent="-457200" algn="l" rtl="0" eaLnBrk="0">
              <a:lnSpc>
                <a:spcPct val="81000"/>
              </a:lnSpc>
              <a:buFont typeface="Wingdings" charset="0"/>
              <a:buChar char=""/>
            </a:pPr>
            <a:endParaRPr lang="en-US" sz="2800" b="1" dirty="0">
              <a:latin typeface="Calibri"/>
              <a:ea typeface="Calibri"/>
              <a:cs typeface="Calibri"/>
            </a:endParaRPr>
          </a:p>
          <a:p>
            <a:pPr marL="457200" indent="-457200" algn="l" rtl="0" eaLnBrk="0">
              <a:lnSpc>
                <a:spcPct val="81000"/>
              </a:lnSpc>
              <a:buFont typeface="Wingdings" charset="0"/>
              <a:buChar char=""/>
            </a:pPr>
            <a:r>
              <a:rPr lang="en-US" sz="2800" b="1" dirty="0">
                <a:latin typeface="Calibri"/>
                <a:ea typeface="Calibri"/>
                <a:cs typeface="Calibri"/>
              </a:rPr>
              <a:t>Part 2: Localization</a:t>
            </a:r>
            <a:endParaRPr lang="en-US" sz="2800" b="1" dirty="0">
              <a:latin typeface="Calibri"/>
              <a:ea typeface="Calibri"/>
              <a:cs typeface="Calibri"/>
            </a:endParaRPr>
          </a:p>
          <a:p>
            <a:pPr marL="457200" indent="-457200" algn="l" rtl="0" eaLnBrk="0">
              <a:lnSpc>
                <a:spcPct val="81000"/>
              </a:lnSpc>
              <a:buFont typeface="Wingdings" charset="0"/>
              <a:buChar char=""/>
            </a:pPr>
            <a:endParaRPr lang="en-US" sz="2800" b="1" dirty="0">
              <a:latin typeface="Calibri"/>
              <a:ea typeface="Calibri"/>
              <a:cs typeface="Calibri"/>
            </a:endParaRPr>
          </a:p>
          <a:p>
            <a:pPr marL="457200" indent="-457200" algn="l" rtl="0" eaLnBrk="0">
              <a:lnSpc>
                <a:spcPct val="81000"/>
              </a:lnSpc>
              <a:buFont typeface="Wingdings" charset="0"/>
              <a:buChar char=""/>
            </a:pPr>
            <a:r>
              <a:rPr lang="en-US" sz="2800" b="1" dirty="0">
                <a:latin typeface="Calibri"/>
                <a:ea typeface="Calibri"/>
                <a:cs typeface="Calibri"/>
              </a:rPr>
              <a:t>Part 3: Drone delivery</a:t>
            </a:r>
            <a:endParaRPr lang="en-US" sz="2800" b="1" dirty="0">
              <a:latin typeface="Calibri"/>
              <a:ea typeface="Calibri"/>
              <a:cs typeface="Calibri"/>
            </a:endParaRPr>
          </a:p>
          <a:p>
            <a:pPr marL="457200" indent="-457200" algn="l" rtl="0" eaLnBrk="0">
              <a:lnSpc>
                <a:spcPct val="81000"/>
              </a:lnSpc>
              <a:buFont typeface="Wingdings" charset="0"/>
              <a:buChar char=""/>
            </a:pPr>
            <a:endParaRPr lang="en-US" sz="2800" b="1" dirty="0">
              <a:latin typeface="Calibri"/>
              <a:ea typeface="Calibri"/>
              <a:cs typeface="Calibri"/>
            </a:endParaRPr>
          </a:p>
          <a:p>
            <a:pPr marL="457200" indent="-457200" algn="l" rtl="0" eaLnBrk="0">
              <a:lnSpc>
                <a:spcPct val="81000"/>
              </a:lnSpc>
              <a:buFont typeface="Wingdings" charset="0"/>
              <a:buChar char=""/>
            </a:pPr>
            <a:r>
              <a:rPr lang="en-US" sz="2800" b="1" dirty="0">
                <a:latin typeface="Calibri"/>
                <a:ea typeface="Calibri"/>
                <a:cs typeface="Calibri"/>
              </a:rPr>
              <a:t>Part 4: Future work - navigation</a:t>
            </a:r>
            <a:endParaRPr lang="en-US" sz="2800" b="1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Part 1: Building map	</a:t>
            </a:r>
            <a:endParaRPr lang="zh-CN" altLang="en-US"/>
          </a:p>
        </p:txBody>
      </p:sp>
      <p:sp>
        <p:nvSpPr>
          <p:cNvPr id="20" name="textbox 20"/>
          <p:cNvSpPr/>
          <p:nvPr/>
        </p:nvSpPr>
        <p:spPr>
          <a:xfrm>
            <a:off x="292100" y="1109345"/>
            <a:ext cx="8811895" cy="46393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p>
            <a:pPr algn="l" rtl="0" eaLnBrk="0">
              <a:lnSpc>
                <a:spcPct val="6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01015" indent="-457200" algn="l" rtl="0" eaLnBrk="0">
              <a:lnSpc>
                <a:spcPct val="101000"/>
              </a:lnSpc>
              <a:spcBef>
                <a:spcPts val="1465"/>
              </a:spcBef>
              <a:buFont typeface="Wingdings" charset="0"/>
              <a:buChar char=""/>
            </a:pPr>
            <a:r>
              <a:rPr lang="en-US" altLang="zh-CN" sz="2800" b="1">
                <a:ea typeface="+mn-lt"/>
                <a:sym typeface="+mn-ea"/>
              </a:rPr>
              <a:t>Step 1: Start the system and set the parameter </a:t>
            </a:r>
            <a:r>
              <a:rPr lang="en-US" altLang="zh-CN" sz="2800" b="1">
                <a:solidFill>
                  <a:srgbClr val="800080"/>
                </a:solidFill>
                <a:ea typeface="+mn-lt"/>
                <a:sym typeface="+mn-ea"/>
              </a:rPr>
              <a:t>localization </a:t>
            </a:r>
            <a:r>
              <a:rPr lang="en-US" altLang="zh-CN" sz="2800" b="1">
                <a:ea typeface="+mn-lt"/>
                <a:sym typeface="+mn-ea"/>
              </a:rPr>
              <a:t>to </a:t>
            </a:r>
            <a:r>
              <a:rPr lang="en-US" altLang="zh-CN" sz="2800" b="1">
                <a:solidFill>
                  <a:srgbClr val="800080"/>
                </a:solidFill>
                <a:ea typeface="+mn-lt"/>
                <a:sym typeface="+mn-ea"/>
              </a:rPr>
              <a:t>false </a:t>
            </a:r>
            <a:r>
              <a:rPr lang="en-US" altLang="zh-CN" sz="2800" b="1">
                <a:ea typeface="+mn-lt"/>
                <a:sym typeface="+mn-ea"/>
              </a:rPr>
              <a:t>to switch the system to </a:t>
            </a:r>
            <a:r>
              <a:rPr lang="en-US" altLang="zh-CN" sz="2800" b="1">
                <a:solidFill>
                  <a:srgbClr val="800080"/>
                </a:solidFill>
                <a:ea typeface="+mn-lt"/>
                <a:sym typeface="+mn-ea"/>
              </a:rPr>
              <a:t>mapping </a:t>
            </a:r>
            <a:r>
              <a:rPr lang="en-US" altLang="zh-CN" sz="2800" b="1">
                <a:ea typeface="+mn-lt"/>
                <a:sym typeface="+mn-ea"/>
              </a:rPr>
              <a:t>mode.</a:t>
            </a:r>
            <a:endParaRPr lang="en-US" altLang="zh-CN" sz="2800" b="1">
              <a:solidFill>
                <a:schemeClr val="tx1"/>
              </a:solidFill>
              <a:ea typeface="+mn-lt"/>
            </a:endParaRPr>
          </a:p>
          <a:p>
            <a:pPr marL="958215" lvl="1" indent="-457200" algn="l" rtl="0" eaLnBrk="0">
              <a:lnSpc>
                <a:spcPct val="31000"/>
              </a:lnSpc>
              <a:spcBef>
                <a:spcPts val="1465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+mn-ea"/>
              </a:rPr>
              <a:t>Launch turtlebot3 robot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958215" lvl="1" indent="-457200" algn="l" rtl="0" eaLnBrk="0">
              <a:lnSpc>
                <a:spcPct val="31000"/>
              </a:lnSpc>
              <a:spcBef>
                <a:spcPts val="1465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+mn-ea"/>
              </a:rPr>
              <a:t>Launch Stereo Camera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958215" lvl="1" indent="-457200" algn="l" rtl="0" eaLnBrk="0">
              <a:lnSpc>
                <a:spcPct val="31000"/>
              </a:lnSpc>
              <a:spcBef>
                <a:spcPts val="1465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+mn-ea"/>
              </a:rPr>
              <a:t>Launch uoa_robot_drone orin_stereo_vslam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958215" lvl="1" indent="-457200" algn="l" rtl="0" eaLnBrk="0">
              <a:lnSpc>
                <a:spcPct val="31000"/>
              </a:lnSpc>
              <a:spcBef>
                <a:spcPts val="1465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+mn-ea"/>
              </a:rPr>
              <a:t>Launch </a:t>
            </a:r>
            <a:r>
              <a:rPr lang="en-US" dirty="0">
                <a:latin typeface="Calibri"/>
                <a:ea typeface="Calibri"/>
                <a:cs typeface="Calibri"/>
                <a:sym typeface="+mn-ea"/>
              </a:rPr>
              <a:t>uoa_robot_drone pc_stereo_vslam</a:t>
            </a:r>
            <a:endParaRPr lang="en-US" dirty="0">
              <a:latin typeface="Calibri"/>
              <a:ea typeface="Calibri"/>
              <a:cs typeface="Calibri"/>
              <a:sym typeface="+mn-ea"/>
            </a:endParaRPr>
          </a:p>
          <a:p>
            <a:pPr marL="958215" lvl="1" indent="-457200" algn="l" rtl="0" eaLnBrk="0">
              <a:lnSpc>
                <a:spcPct val="31000"/>
              </a:lnSpc>
              <a:spcBef>
                <a:spcPts val="1465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libri"/>
                <a:ea typeface="Calibri"/>
                <a:cs typeface="Calibri"/>
                <a:sym typeface="+mn-ea"/>
              </a:rPr>
              <a:t>Run turtlebot3_teleop teleop_keyboard</a:t>
            </a:r>
            <a:endParaRPr lang="en-US" dirty="0">
              <a:latin typeface="Calibri"/>
              <a:ea typeface="Calibri"/>
              <a:cs typeface="Calibri"/>
            </a:endParaRPr>
          </a:p>
          <a:p>
            <a:pPr marL="501015" indent="-457200" algn="l" rtl="0" eaLnBrk="0">
              <a:lnSpc>
                <a:spcPct val="101000"/>
              </a:lnSpc>
              <a:spcBef>
                <a:spcPts val="1465"/>
              </a:spcBef>
              <a:buFont typeface="Wingdings" charset="0"/>
              <a:buChar char=""/>
            </a:pPr>
            <a:r>
              <a:rPr lang="en-US" altLang="zh-CN" sz="2800" b="1">
                <a:ea typeface="+mn-lt"/>
                <a:sym typeface="+mn-ea"/>
              </a:rPr>
              <a:t>Step 2: </a:t>
            </a:r>
            <a:r>
              <a:rPr lang="zh-CN" altLang="en-US" sz="2800" b="1">
                <a:ea typeface="+mn-lt"/>
                <a:sym typeface="+mn-ea"/>
              </a:rPr>
              <a:t>Operate the robot to walk in the </a:t>
            </a:r>
            <a:r>
              <a:rPr lang="zh-CN" altLang="en-US" sz="2800" b="1">
                <a:solidFill>
                  <a:srgbClr val="00B050"/>
                </a:solidFill>
                <a:ea typeface="+mn-lt"/>
                <a:sym typeface="+mn-ea"/>
              </a:rPr>
              <a:t>real world</a:t>
            </a:r>
            <a:r>
              <a:rPr lang="zh-CN" altLang="en-US" sz="2800" b="1">
                <a:ea typeface="+mn-lt"/>
                <a:sym typeface="+mn-ea"/>
              </a:rPr>
              <a:t>, and a </a:t>
            </a:r>
            <a:r>
              <a:rPr lang="zh-CN" altLang="en-US" sz="2800" b="1">
                <a:solidFill>
                  <a:srgbClr val="FF0000"/>
                </a:solidFill>
                <a:ea typeface="+mn-lt"/>
                <a:sym typeface="+mn-ea"/>
              </a:rPr>
              <a:t>map </a:t>
            </a:r>
            <a:r>
              <a:rPr lang="zh-CN" altLang="en-US" sz="2800" b="1">
                <a:ea typeface="+mn-lt"/>
                <a:sym typeface="+mn-ea"/>
              </a:rPr>
              <a:t>of where the robot goes will be built in </a:t>
            </a:r>
            <a:r>
              <a:rPr lang="zh-CN" altLang="en-US" sz="2800" b="1">
                <a:solidFill>
                  <a:srgbClr val="800080"/>
                </a:solidFill>
                <a:ea typeface="+mn-lt"/>
                <a:sym typeface="+mn-ea"/>
              </a:rPr>
              <a:t>real time</a:t>
            </a:r>
            <a:r>
              <a:rPr lang="zh-CN" altLang="en-US" sz="2800" b="1">
                <a:ea typeface="+mn-lt"/>
                <a:sym typeface="+mn-ea"/>
              </a:rPr>
              <a:t> on the </a:t>
            </a:r>
            <a:r>
              <a:rPr lang="zh-CN" altLang="en-US" sz="2800" b="1">
                <a:solidFill>
                  <a:srgbClr val="800080"/>
                </a:solidFill>
                <a:ea typeface="+mn-lt"/>
                <a:sym typeface="+mn-ea"/>
              </a:rPr>
              <a:t>big screen</a:t>
            </a:r>
            <a:r>
              <a:rPr lang="zh-CN" altLang="en-US" sz="2800" b="1">
                <a:ea typeface="+mn-lt"/>
                <a:sym typeface="+mn-ea"/>
              </a:rPr>
              <a:t>.</a:t>
            </a:r>
            <a:endParaRPr lang="zh-CN" altLang="en-US" sz="2800" b="1">
              <a:ea typeface="+mn-lt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dirty="0">
                <a:latin typeface="Calibri"/>
                <a:ea typeface="Calibri"/>
                <a:cs typeface="Calibri"/>
                <a:sym typeface="+mn-ea"/>
              </a:rPr>
              <a:t>Part 2: Localization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00405" y="1351915"/>
            <a:ext cx="789368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1"/>
                </a:solidFill>
                <a:ea typeface="+mn-lt"/>
              </a:rPr>
              <a:t>Step 1: Restart the system and set the parameter localization to </a:t>
            </a:r>
            <a:r>
              <a:rPr lang="en-US" altLang="zh-CN" sz="2800" b="1">
                <a:solidFill>
                  <a:srgbClr val="800080"/>
                </a:solidFill>
                <a:ea typeface="+mn-lt"/>
              </a:rPr>
              <a:t>true </a:t>
            </a:r>
            <a:r>
              <a:rPr lang="en-US" altLang="zh-CN" sz="2800" b="1">
                <a:solidFill>
                  <a:schemeClr val="tx1"/>
                </a:solidFill>
                <a:ea typeface="+mn-lt"/>
              </a:rPr>
              <a:t>to switch the system to </a:t>
            </a:r>
            <a:r>
              <a:rPr lang="en-US" altLang="zh-CN" sz="2800" b="1">
                <a:solidFill>
                  <a:srgbClr val="800080"/>
                </a:solidFill>
                <a:ea typeface="+mn-lt"/>
              </a:rPr>
              <a:t>localization </a:t>
            </a:r>
            <a:r>
              <a:rPr lang="en-US" altLang="zh-CN" sz="2800" b="1">
                <a:solidFill>
                  <a:schemeClr val="tx1"/>
                </a:solidFill>
                <a:ea typeface="+mn-lt"/>
              </a:rPr>
              <a:t>mode.</a:t>
            </a:r>
            <a:endParaRPr lang="en-US" altLang="zh-CN" sz="2800" b="1">
              <a:solidFill>
                <a:schemeClr val="tx1"/>
              </a:solidFill>
              <a:ea typeface="+mn-lt"/>
            </a:endParaRPr>
          </a:p>
          <a:p>
            <a:endParaRPr lang="zh-CN" altLang="en-US" sz="2800" b="1">
              <a:solidFill>
                <a:schemeClr val="tx1"/>
              </a:solidFill>
              <a:ea typeface="+mn-lt"/>
            </a:endParaRPr>
          </a:p>
          <a:p>
            <a:r>
              <a:rPr lang="en-US" altLang="zh-CN" sz="2800" b="1">
                <a:solidFill>
                  <a:schemeClr val="tx1"/>
                </a:solidFill>
                <a:ea typeface="+mn-lt"/>
              </a:rPr>
              <a:t>Step 2: </a:t>
            </a:r>
            <a:r>
              <a:rPr lang="zh-CN" altLang="en-US" sz="2800" b="1">
                <a:solidFill>
                  <a:schemeClr val="tx1"/>
                </a:solidFill>
                <a:ea typeface="+mn-lt"/>
              </a:rPr>
              <a:t>Operate the robot to walk in the </a:t>
            </a:r>
            <a:r>
              <a:rPr lang="zh-CN" altLang="en-US" sz="2800" b="1">
                <a:solidFill>
                  <a:srgbClr val="00B050"/>
                </a:solidFill>
                <a:ea typeface="+mn-lt"/>
              </a:rPr>
              <a:t>real world</a:t>
            </a:r>
            <a:r>
              <a:rPr lang="zh-CN" altLang="en-US" sz="2800" b="1">
                <a:solidFill>
                  <a:schemeClr val="tx1"/>
                </a:solidFill>
                <a:ea typeface="+mn-lt"/>
              </a:rPr>
              <a:t>, and the robot's </a:t>
            </a:r>
            <a:r>
              <a:rPr lang="zh-CN" altLang="en-US" sz="2800" b="1">
                <a:solidFill>
                  <a:srgbClr val="FF0000"/>
                </a:solidFill>
                <a:ea typeface="+mn-lt"/>
              </a:rPr>
              <a:t>position </a:t>
            </a:r>
            <a:r>
              <a:rPr lang="zh-CN" altLang="en-US" sz="2800" b="1">
                <a:solidFill>
                  <a:schemeClr val="tx1"/>
                </a:solidFill>
                <a:ea typeface="+mn-lt"/>
              </a:rPr>
              <a:t>on the map will be displayed in </a:t>
            </a:r>
            <a:r>
              <a:rPr lang="zh-CN" altLang="en-US" sz="2800" b="1">
                <a:solidFill>
                  <a:srgbClr val="800080"/>
                </a:solidFill>
                <a:ea typeface="+mn-lt"/>
              </a:rPr>
              <a:t>real time</a:t>
            </a:r>
            <a:r>
              <a:rPr lang="zh-CN" altLang="en-US" sz="2800" b="1">
                <a:solidFill>
                  <a:schemeClr val="tx1"/>
                </a:solidFill>
                <a:ea typeface="+mn-lt"/>
              </a:rPr>
              <a:t> on the large-screen </a:t>
            </a:r>
            <a:r>
              <a:rPr lang="zh-CN" altLang="en-US" sz="2800" b="1">
                <a:solidFill>
                  <a:srgbClr val="800080"/>
                </a:solidFill>
                <a:ea typeface="+mn-lt"/>
              </a:rPr>
              <a:t>map</a:t>
            </a:r>
            <a:r>
              <a:rPr lang="zh-CN" altLang="en-US" sz="2800" b="1">
                <a:solidFill>
                  <a:schemeClr val="tx1"/>
                </a:solidFill>
                <a:ea typeface="+mn-lt"/>
              </a:rPr>
              <a:t>.</a:t>
            </a:r>
            <a:endParaRPr lang="zh-CN" altLang="en-US" sz="2800" b="1">
              <a:solidFill>
                <a:schemeClr val="tx1"/>
              </a:solidFill>
              <a:ea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585" y="236220"/>
            <a:ext cx="8963660" cy="576580"/>
          </a:xfrm>
        </p:spPr>
        <p:txBody>
          <a:bodyPr/>
          <a:p>
            <a:r>
              <a:rPr lang="en-US" dirty="0">
                <a:latin typeface="Calibri"/>
                <a:ea typeface="Calibri"/>
                <a:cs typeface="Calibri"/>
                <a:sym typeface="+mn-ea"/>
              </a:rPr>
              <a:t>Part 3: Drone delivery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337820" y="1456055"/>
            <a:ext cx="8579485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1"/>
                </a:solidFill>
                <a:ea typeface="+mn-lt"/>
              </a:rPr>
              <a:t>Step 1: Switch the wireless network to </a:t>
            </a:r>
            <a:r>
              <a:rPr lang="en-US" altLang="zh-CN" sz="2800" b="1">
                <a:solidFill>
                  <a:srgbClr val="800080"/>
                </a:solidFill>
                <a:ea typeface="+mn-lt"/>
              </a:rPr>
              <a:t>2.4G</a:t>
            </a:r>
            <a:r>
              <a:rPr lang="en-US" altLang="zh-CN" sz="2800" b="1">
                <a:solidFill>
                  <a:schemeClr val="tx1"/>
                </a:solidFill>
                <a:ea typeface="+mn-lt"/>
              </a:rPr>
              <a:t> Hz.</a:t>
            </a:r>
            <a:endParaRPr lang="en-US" altLang="zh-CN" sz="2800" b="1">
              <a:solidFill>
                <a:schemeClr val="tx1"/>
              </a:solidFill>
              <a:ea typeface="+mn-lt"/>
            </a:endParaRPr>
          </a:p>
          <a:p>
            <a:r>
              <a:rPr lang="en-US" altLang="zh-CN" sz="2800" b="1">
                <a:solidFill>
                  <a:schemeClr val="tx1"/>
                </a:solidFill>
                <a:ea typeface="+mn-lt"/>
              </a:rPr>
              <a:t>Step 2: Install the </a:t>
            </a:r>
            <a:r>
              <a:rPr lang="en-US" altLang="zh-CN" sz="2800" b="1">
                <a:solidFill>
                  <a:srgbClr val="800080"/>
                </a:solidFill>
                <a:ea typeface="+mn-lt"/>
              </a:rPr>
              <a:t>drone </a:t>
            </a:r>
            <a:r>
              <a:rPr lang="en-US" altLang="zh-CN" sz="2800" b="1">
                <a:solidFill>
                  <a:schemeClr val="tx1"/>
                </a:solidFill>
                <a:ea typeface="+mn-lt"/>
              </a:rPr>
              <a:t>onto the robot.</a:t>
            </a:r>
            <a:endParaRPr lang="en-US" altLang="zh-CN" sz="2800" b="1">
              <a:solidFill>
                <a:schemeClr val="tx1"/>
              </a:solidFill>
              <a:ea typeface="+mn-lt"/>
            </a:endParaRPr>
          </a:p>
          <a:p>
            <a:r>
              <a:rPr lang="en-US" altLang="zh-CN" sz="2800" b="1">
                <a:solidFill>
                  <a:schemeClr val="tx1"/>
                </a:solidFill>
                <a:ea typeface="+mn-lt"/>
              </a:rPr>
              <a:t>Step 3: Restart the system with localization:=true and </a:t>
            </a:r>
            <a:r>
              <a:rPr lang="en-US" altLang="zh-CN" sz="2800" b="1">
                <a:solidFill>
                  <a:srgbClr val="800080"/>
                </a:solidFill>
                <a:ea typeface="+mn-lt"/>
              </a:rPr>
              <a:t>with_drone</a:t>
            </a:r>
            <a:r>
              <a:rPr lang="en-US" altLang="zh-CN" sz="2800" b="1">
                <a:solidFill>
                  <a:schemeClr val="tx1"/>
                </a:solidFill>
                <a:ea typeface="+mn-lt"/>
              </a:rPr>
              <a:t>:=true.</a:t>
            </a:r>
            <a:endParaRPr lang="en-US" altLang="zh-CN" sz="2800" b="1">
              <a:solidFill>
                <a:schemeClr val="tx1"/>
              </a:solidFill>
              <a:ea typeface="+mn-lt"/>
            </a:endParaRPr>
          </a:p>
          <a:p>
            <a:r>
              <a:rPr lang="en-US" altLang="zh-CN" sz="2800" b="1">
                <a:solidFill>
                  <a:schemeClr val="tx1"/>
                </a:solidFill>
                <a:ea typeface="+mn-lt"/>
              </a:rPr>
              <a:t>Step 4: Turn on the drone.</a:t>
            </a:r>
            <a:endParaRPr lang="en-US" altLang="zh-CN" sz="2800" b="1">
              <a:solidFill>
                <a:schemeClr val="tx1"/>
              </a:solidFill>
              <a:ea typeface="+mn-lt"/>
            </a:endParaRPr>
          </a:p>
          <a:p>
            <a:r>
              <a:rPr lang="en-US" altLang="zh-CN" sz="2800" b="1">
                <a:solidFill>
                  <a:schemeClr val="tx1"/>
                </a:solidFill>
                <a:ea typeface="+mn-lt"/>
              </a:rPr>
              <a:t>Step 5: Set a </a:t>
            </a:r>
            <a:r>
              <a:rPr lang="en-US" altLang="zh-CN" sz="2800" b="1">
                <a:solidFill>
                  <a:srgbClr val="800080"/>
                </a:solidFill>
                <a:ea typeface="+mn-lt"/>
              </a:rPr>
              <a:t>destination </a:t>
            </a:r>
            <a:r>
              <a:rPr lang="en-US" altLang="zh-CN" sz="2800" b="1">
                <a:solidFill>
                  <a:schemeClr val="tx1"/>
                </a:solidFill>
                <a:ea typeface="+mn-lt"/>
              </a:rPr>
              <a:t>on the map.</a:t>
            </a:r>
            <a:endParaRPr lang="en-US" altLang="zh-CN" sz="2800" b="1">
              <a:solidFill>
                <a:schemeClr val="tx1"/>
              </a:solidFill>
              <a:ea typeface="+mn-lt"/>
            </a:endParaRPr>
          </a:p>
          <a:p>
            <a:r>
              <a:rPr lang="en-US" altLang="zh-CN" sz="2800" b="1">
                <a:solidFill>
                  <a:schemeClr val="tx1"/>
                </a:solidFill>
                <a:ea typeface="+mn-lt"/>
              </a:rPr>
              <a:t>Step 6: </a:t>
            </a:r>
            <a:r>
              <a:rPr lang="en-US" altLang="zh-CN" sz="2800" b="1">
                <a:ea typeface="+mn-lt"/>
              </a:rPr>
              <a:t>When the robot reaches the target location, the drone will </a:t>
            </a:r>
            <a:r>
              <a:rPr lang="en-US" altLang="zh-CN" sz="2800" b="1">
                <a:solidFill>
                  <a:srgbClr val="800080"/>
                </a:solidFill>
                <a:ea typeface="+mn-lt"/>
              </a:rPr>
              <a:t>take off automatically</a:t>
            </a:r>
            <a:r>
              <a:rPr lang="en-US" altLang="zh-CN" sz="2800" b="1">
                <a:ea typeface="+mn-lt"/>
              </a:rPr>
              <a:t>.</a:t>
            </a:r>
            <a:endParaRPr lang="en-US" altLang="zh-CN" sz="2800" b="1">
              <a:ea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8585" y="236220"/>
            <a:ext cx="8865870" cy="576580"/>
          </a:xfrm>
        </p:spPr>
        <p:txBody>
          <a:bodyPr/>
          <a:p>
            <a:r>
              <a:rPr lang="en-US" dirty="0">
                <a:latin typeface="Calibri"/>
                <a:ea typeface="Calibri"/>
                <a:cs typeface="Calibri"/>
                <a:sym typeface="+mn-ea"/>
              </a:rPr>
              <a:t>Part 4: </a:t>
            </a:r>
            <a:r>
              <a:rPr lang="en-US" sz="4000" dirty="0">
                <a:latin typeface="Calibri"/>
                <a:ea typeface="Calibri"/>
                <a:cs typeface="Calibri"/>
                <a:sym typeface="+mn-ea"/>
              </a:rPr>
              <a:t>Future work - navigation</a:t>
            </a:r>
            <a:endParaRPr lang="en-US" altLang="zh-CN" sz="4000"/>
          </a:p>
        </p:txBody>
      </p:sp>
      <p:sp>
        <p:nvSpPr>
          <p:cNvPr id="8" name="文本框 7"/>
          <p:cNvSpPr txBox="1"/>
          <p:nvPr/>
        </p:nvSpPr>
        <p:spPr>
          <a:xfrm>
            <a:off x="337820" y="1456055"/>
            <a:ext cx="857948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chemeClr val="tx1"/>
                </a:solidFill>
                <a:ea typeface="+mn-lt"/>
              </a:rPr>
              <a:t>Step 1: Switch the wireless network to </a:t>
            </a:r>
            <a:r>
              <a:rPr lang="en-US" altLang="zh-CN" sz="2800" b="1">
                <a:solidFill>
                  <a:srgbClr val="800080"/>
                </a:solidFill>
                <a:ea typeface="+mn-lt"/>
              </a:rPr>
              <a:t>5</a:t>
            </a:r>
            <a:r>
              <a:rPr lang="en-US" altLang="zh-CN" sz="2800" b="1">
                <a:solidFill>
                  <a:srgbClr val="800080"/>
                </a:solidFill>
                <a:ea typeface="+mn-lt"/>
              </a:rPr>
              <a:t>G</a:t>
            </a:r>
            <a:r>
              <a:rPr lang="en-US" altLang="zh-CN" sz="2800" b="1">
                <a:solidFill>
                  <a:schemeClr val="tx1"/>
                </a:solidFill>
                <a:ea typeface="+mn-lt"/>
              </a:rPr>
              <a:t> Hz.</a:t>
            </a:r>
            <a:endParaRPr lang="en-US" altLang="zh-CN" sz="2800" b="1">
              <a:solidFill>
                <a:schemeClr val="tx1"/>
              </a:solidFill>
              <a:ea typeface="+mn-lt"/>
            </a:endParaRPr>
          </a:p>
          <a:p>
            <a:r>
              <a:rPr lang="en-US" altLang="zh-CN" sz="2800" b="1">
                <a:solidFill>
                  <a:schemeClr val="tx1"/>
                </a:solidFill>
                <a:ea typeface="+mn-lt"/>
              </a:rPr>
              <a:t>Step 2: Dismount the </a:t>
            </a:r>
            <a:r>
              <a:rPr lang="en-US" altLang="zh-CN" sz="2800" b="1">
                <a:solidFill>
                  <a:srgbClr val="800080"/>
                </a:solidFill>
                <a:ea typeface="+mn-lt"/>
              </a:rPr>
              <a:t>drone </a:t>
            </a:r>
            <a:r>
              <a:rPr lang="en-US" altLang="zh-CN" sz="2800" b="1">
                <a:solidFill>
                  <a:schemeClr val="tx1"/>
                </a:solidFill>
                <a:ea typeface="+mn-lt"/>
              </a:rPr>
              <a:t>from </a:t>
            </a:r>
            <a:r>
              <a:rPr lang="en-US" altLang="zh-CN" sz="2800" b="1">
                <a:solidFill>
                  <a:schemeClr val="tx1"/>
                </a:solidFill>
                <a:ea typeface="+mn-lt"/>
              </a:rPr>
              <a:t>the robot.</a:t>
            </a:r>
            <a:endParaRPr lang="en-US" altLang="zh-CN" sz="2800" b="1">
              <a:solidFill>
                <a:schemeClr val="tx1"/>
              </a:solidFill>
              <a:ea typeface="+mn-lt"/>
            </a:endParaRPr>
          </a:p>
          <a:p>
            <a:r>
              <a:rPr lang="en-US" altLang="zh-CN" sz="2800" b="1">
                <a:solidFill>
                  <a:schemeClr val="tx1"/>
                </a:solidFill>
                <a:ea typeface="+mn-lt"/>
              </a:rPr>
              <a:t>Step 3: Restart the system with localization:=true.</a:t>
            </a:r>
            <a:endParaRPr lang="en-US" altLang="zh-CN" sz="2800" b="1">
              <a:solidFill>
                <a:schemeClr val="tx1"/>
              </a:solidFill>
              <a:ea typeface="+mn-lt"/>
            </a:endParaRPr>
          </a:p>
          <a:p>
            <a:r>
              <a:rPr lang="en-US" altLang="zh-CN" sz="2800" b="1">
                <a:solidFill>
                  <a:schemeClr val="tx1"/>
                </a:solidFill>
                <a:ea typeface="+mn-lt"/>
              </a:rPr>
              <a:t>Step 4: Set a </a:t>
            </a:r>
            <a:r>
              <a:rPr lang="en-US" altLang="zh-CN" sz="2800" b="1">
                <a:solidFill>
                  <a:srgbClr val="800080"/>
                </a:solidFill>
                <a:ea typeface="+mn-lt"/>
              </a:rPr>
              <a:t>destination </a:t>
            </a:r>
            <a:r>
              <a:rPr lang="en-US" altLang="zh-CN" sz="2800" b="1">
                <a:solidFill>
                  <a:schemeClr val="tx1"/>
                </a:solidFill>
                <a:ea typeface="+mn-lt"/>
              </a:rPr>
              <a:t>on the map.</a:t>
            </a:r>
            <a:endParaRPr lang="en-US" altLang="zh-CN" sz="2800" b="1">
              <a:solidFill>
                <a:schemeClr val="tx1"/>
              </a:solidFill>
              <a:ea typeface="+mn-lt"/>
            </a:endParaRPr>
          </a:p>
          <a:p>
            <a:r>
              <a:rPr lang="en-US" altLang="zh-CN" sz="2800" b="1">
                <a:solidFill>
                  <a:schemeClr val="tx1"/>
                </a:solidFill>
                <a:ea typeface="+mn-lt"/>
              </a:rPr>
              <a:t>Step 5: The map shows </a:t>
            </a:r>
            <a:r>
              <a:rPr lang="en-US" altLang="zh-CN" sz="2800" b="1">
                <a:solidFill>
                  <a:srgbClr val="00B050"/>
                </a:solidFill>
                <a:ea typeface="+mn-lt"/>
              </a:rPr>
              <a:t>a global path line</a:t>
            </a:r>
            <a:r>
              <a:rPr lang="en-US" altLang="zh-CN" sz="2800" b="1">
                <a:solidFill>
                  <a:schemeClr val="tx1"/>
                </a:solidFill>
                <a:ea typeface="+mn-lt"/>
              </a:rPr>
              <a:t> from the robot to the destination and </a:t>
            </a:r>
            <a:r>
              <a:rPr lang="en-US" altLang="zh-CN" sz="2800" b="1">
                <a:solidFill>
                  <a:srgbClr val="800080"/>
                </a:solidFill>
                <a:ea typeface="+mn-lt"/>
              </a:rPr>
              <a:t>a local path line</a:t>
            </a:r>
            <a:r>
              <a:rPr lang="en-US" altLang="zh-CN" sz="2800" b="1">
                <a:solidFill>
                  <a:schemeClr val="tx1"/>
                </a:solidFill>
                <a:ea typeface="+mn-lt"/>
              </a:rPr>
              <a:t> within the field of its view</a:t>
            </a:r>
            <a:r>
              <a:rPr lang="en-US" altLang="zh-CN" sz="2800" b="1">
                <a:ea typeface="+mn-lt"/>
              </a:rPr>
              <a:t>.</a:t>
            </a:r>
            <a:endParaRPr lang="en-US" altLang="zh-CN" sz="2800" b="1">
              <a:ea typeface="+mn-lt"/>
            </a:endParaRPr>
          </a:p>
          <a:p>
            <a:r>
              <a:rPr lang="en-US" altLang="zh-CN" sz="2800" b="1">
                <a:ea typeface="+mn-lt"/>
              </a:rPr>
              <a:t>Step 6: The robot will go to the destination. (</a:t>
            </a:r>
            <a:r>
              <a:rPr lang="en-US" altLang="zh-CN" sz="2800" b="1">
                <a:solidFill>
                  <a:srgbClr val="FF0000"/>
                </a:solidFill>
                <a:ea typeface="+mn-lt"/>
              </a:rPr>
              <a:t>Still needs a lot of debugging</a:t>
            </a:r>
            <a:r>
              <a:rPr lang="en-US" altLang="zh-CN" sz="2800" b="1">
                <a:solidFill>
                  <a:srgbClr val="FF0000"/>
                </a:solidFill>
                <a:ea typeface="+mn-lt"/>
              </a:rPr>
              <a:t>.</a:t>
            </a:r>
            <a:r>
              <a:rPr lang="en-US" altLang="zh-CN" sz="2800" b="1">
                <a:ea typeface="+mn-lt"/>
              </a:rPr>
              <a:t>)</a:t>
            </a:r>
            <a:endParaRPr lang="en-US" altLang="zh-CN" sz="2800" b="1">
              <a:ea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/>
              <a:t>End</a:t>
            </a:r>
            <a:endParaRPr lang="en-US" altLang="zh-CN"/>
          </a:p>
        </p:txBody>
      </p:sp>
      <p:pic>
        <p:nvPicPr>
          <p:cNvPr id="3" name="图片 2"/>
          <p:cNvPicPr/>
          <p:nvPr/>
        </p:nvPicPr>
        <p:blipFill>
          <a:blip r:embed="rId1"/>
        </p:blipFill>
        <p:spPr>
          <a:xfrm>
            <a:off x="2066290" y="993775"/>
            <a:ext cx="5322570" cy="51352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ntent_template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1824</Words>
  <Application>WPS 演示</Application>
  <PresentationFormat/>
  <Paragraphs>66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7" baseType="lpstr">
      <vt:lpstr>Arial</vt:lpstr>
      <vt:lpstr>宋体</vt:lpstr>
      <vt:lpstr>Wingdings</vt:lpstr>
      <vt:lpstr>Times New Roman</vt:lpstr>
      <vt:lpstr>Arial</vt:lpstr>
      <vt:lpstr>Calibri</vt:lpstr>
      <vt:lpstr>Trebuchet MS</vt:lpstr>
      <vt:lpstr>Times New Roman</vt:lpstr>
      <vt:lpstr>Tahoma</vt:lpstr>
      <vt:lpstr>Wingdings</vt:lpstr>
      <vt:lpstr>Gubbi</vt:lpstr>
      <vt:lpstr>DejaVu Sans</vt:lpstr>
      <vt:lpstr>微软雅黑</vt:lpstr>
      <vt:lpstr>宋体</vt:lpstr>
      <vt:lpstr>文泉驿微米黑</vt:lpstr>
      <vt:lpstr>Arial Unicode MS</vt:lpstr>
      <vt:lpstr>Calibri Light</vt:lpstr>
      <vt:lpstr>Calibri</vt:lpstr>
      <vt:lpstr>OpenSymbol</vt:lpstr>
      <vt:lpstr>content_template</vt:lpstr>
      <vt:lpstr>PowerPoint 演示文稿</vt:lpstr>
      <vt:lpstr>Content</vt:lpstr>
      <vt:lpstr>Part 1: Building map	</vt:lpstr>
      <vt:lpstr>Part 2: Localization</vt:lpstr>
      <vt:lpstr>Part 3: Drone delivery</vt:lpstr>
      <vt:lpstr>Part 4: Future work - navigation</vt:lpstr>
      <vt:lpstr>End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Honours Computing Project Session</dc:title>
  <dc:creator>Lin, Chenghua</dc:creator>
  <cp:lastModifiedBy>陈健</cp:lastModifiedBy>
  <cp:revision>21</cp:revision>
  <dcterms:created xsi:type="dcterms:W3CDTF">2025-08-13T14:59:50Z</dcterms:created>
  <dcterms:modified xsi:type="dcterms:W3CDTF">2025-08-13T14:59:50Z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wqlLaW5nc29mdCBQREYgdG8gV1BTIDEwMA</vt:lpwstr>
  </property>
  <property fmtid="{D5CDD505-2E9C-101B-9397-08002B2CF9AE}" pid="3" name="Created">
    <vt:filetime>2025-08-09T05:43:34Z</vt:filetime>
  </property>
  <property fmtid="{D5CDD505-2E9C-101B-9397-08002B2CF9AE}" pid="4" name="ICV">
    <vt:lpwstr>1AE4A4812CD32761455896689DE53BAF_43</vt:lpwstr>
  </property>
  <property fmtid="{D5CDD505-2E9C-101B-9397-08002B2CF9AE}" pid="5" name="KSOProductBuildVer">
    <vt:lpwstr>2052-12.1.0.17900</vt:lpwstr>
  </property>
</Properties>
</file>