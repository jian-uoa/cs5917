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256" r:id="rId3"/>
    <p:sldId id="257" r:id="rId5"/>
    <p:sldId id="258" r:id="rId6"/>
    <p:sldId id="259" r:id="rId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9" userDrawn="1">
          <p15:clr>
            <a:srgbClr val="A4A3A4"/>
          </p15:clr>
        </p15:guide>
        <p15:guide id="2" pos="38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74CB"/>
    <a:srgbClr val="FF3300"/>
    <a:srgbClr val="B2B2B2"/>
    <a:srgbClr val="202020"/>
    <a:srgbClr val="323232"/>
    <a:srgbClr val="CC3300"/>
    <a:srgbClr val="CC00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79"/>
        <p:guide pos="381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web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圆角矩形 34"/>
          <p:cNvSpPr/>
          <p:nvPr/>
        </p:nvSpPr>
        <p:spPr>
          <a:xfrm>
            <a:off x="5081270" y="1811655"/>
            <a:ext cx="3028950" cy="258953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tIns="0" rtlCol="0" anchor="t" anchorCtr="0"/>
          <a:p>
            <a:pPr algn="ctr"/>
            <a:r>
              <a:rPr lang="en-US" altLang="zh-CN">
                <a:solidFill>
                  <a:srgbClr val="FF3300"/>
                </a:solidFill>
                <a:latin typeface="Times New Roman" panose="02020603050405020304" charset="0"/>
                <a:cs typeface="Times New Roman" panose="02020603050405020304" charset="0"/>
              </a:rPr>
              <a:t>uoa_robot_drone</a:t>
            </a:r>
            <a:endParaRPr lang="en-US" altLang="zh-CN">
              <a:solidFill>
                <a:srgbClr val="FF33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5208270" y="3630295"/>
            <a:ext cx="2808605" cy="6273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Personal Computer</a:t>
            </a:r>
            <a:endParaRPr lang="en-US" altLang="zh-CN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rcRect b="17982"/>
        </p:blipFill>
        <p:spPr>
          <a:xfrm>
            <a:off x="1257300" y="415925"/>
            <a:ext cx="1625600" cy="593725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1257300" y="2795270"/>
            <a:ext cx="1697355" cy="62738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rtabmap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5196205" y="2319020"/>
            <a:ext cx="2808605" cy="636905"/>
          </a:xfrm>
          <a:custGeom>
            <a:avLst/>
            <a:gdLst>
              <a:gd name="connsiteX0" fmla="*/ 0 w 4423"/>
              <a:gd name="connsiteY0" fmla="*/ 180 h 1003"/>
              <a:gd name="connsiteX1" fmla="*/ 165 w 4423"/>
              <a:gd name="connsiteY1" fmla="*/ 15 h 1003"/>
              <a:gd name="connsiteX2" fmla="*/ 592 w 4423"/>
              <a:gd name="connsiteY2" fmla="*/ 0 h 1003"/>
              <a:gd name="connsiteX3" fmla="*/ 4258 w 4423"/>
              <a:gd name="connsiteY3" fmla="*/ 15 h 1003"/>
              <a:gd name="connsiteX4" fmla="*/ 4423 w 4423"/>
              <a:gd name="connsiteY4" fmla="*/ 180 h 1003"/>
              <a:gd name="connsiteX5" fmla="*/ 4423 w 4423"/>
              <a:gd name="connsiteY5" fmla="*/ 838 h 1003"/>
              <a:gd name="connsiteX6" fmla="*/ 4258 w 4423"/>
              <a:gd name="connsiteY6" fmla="*/ 1003 h 1003"/>
              <a:gd name="connsiteX7" fmla="*/ 165 w 4423"/>
              <a:gd name="connsiteY7" fmla="*/ 1003 h 1003"/>
              <a:gd name="connsiteX8" fmla="*/ 0 w 4423"/>
              <a:gd name="connsiteY8" fmla="*/ 838 h 1003"/>
              <a:gd name="connsiteX9" fmla="*/ 0 w 4423"/>
              <a:gd name="connsiteY9" fmla="*/ 180 h 1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23" h="1003">
                <a:moveTo>
                  <a:pt x="0" y="180"/>
                </a:moveTo>
                <a:cubicBezTo>
                  <a:pt x="0" y="89"/>
                  <a:pt x="74" y="15"/>
                  <a:pt x="165" y="15"/>
                </a:cubicBezTo>
                <a:lnTo>
                  <a:pt x="592" y="0"/>
                </a:lnTo>
                <a:lnTo>
                  <a:pt x="4258" y="15"/>
                </a:lnTo>
                <a:cubicBezTo>
                  <a:pt x="4349" y="15"/>
                  <a:pt x="4423" y="89"/>
                  <a:pt x="4423" y="180"/>
                </a:cubicBezTo>
                <a:lnTo>
                  <a:pt x="4423" y="838"/>
                </a:lnTo>
                <a:cubicBezTo>
                  <a:pt x="4423" y="929"/>
                  <a:pt x="4349" y="1003"/>
                  <a:pt x="4258" y="1003"/>
                </a:cubicBezTo>
                <a:lnTo>
                  <a:pt x="165" y="1003"/>
                </a:lnTo>
                <a:cubicBezTo>
                  <a:pt x="74" y="1003"/>
                  <a:pt x="0" y="929"/>
                  <a:pt x="0" y="838"/>
                </a:cubicBezTo>
                <a:lnTo>
                  <a:pt x="0" y="180"/>
                </a:lnTo>
                <a:close/>
              </a:path>
            </a:pathLst>
          </a:cu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Jetson Orin Nano</a:t>
            </a:r>
            <a:endParaRPr lang="en-US" altLang="zh-CN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图片 8"/>
          <p:cNvPicPr/>
          <p:nvPr/>
        </p:nvPicPr>
        <p:blipFill>
          <a:blip r:embed="rId2"/>
          <a:srcRect l="41202" b="727"/>
        </p:blipFill>
        <p:spPr>
          <a:xfrm>
            <a:off x="5452110" y="12065"/>
            <a:ext cx="2296160" cy="1388110"/>
          </a:xfrm>
          <a:prstGeom prst="rect">
            <a:avLst/>
          </a:prstGeom>
        </p:spPr>
      </p:pic>
      <p:sp>
        <p:nvSpPr>
          <p:cNvPr id="10" name="椭圆 9"/>
          <p:cNvSpPr/>
          <p:nvPr/>
        </p:nvSpPr>
        <p:spPr>
          <a:xfrm>
            <a:off x="9599930" y="3157220"/>
            <a:ext cx="2141220" cy="62738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navigation2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3053715" y="4913630"/>
            <a:ext cx="2098040" cy="62738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rtabmap_viz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8110220" y="4913630"/>
            <a:ext cx="2098040" cy="62738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rviz2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3" name="图片 12"/>
          <p:cNvPicPr/>
          <p:nvPr/>
        </p:nvPicPr>
        <p:blipFill>
          <a:blip r:embed="rId3"/>
          <a:srcRect l="16689" t="15686" r="15756" b="5754"/>
        </p:blipFill>
        <p:spPr>
          <a:xfrm>
            <a:off x="6252210" y="5076825"/>
            <a:ext cx="614045" cy="31305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2683510" y="1494155"/>
            <a:ext cx="2827020" cy="307340"/>
          </a:xfrm>
          <a:prstGeom prst="rect">
            <a:avLst/>
          </a:prstGeom>
          <a:noFill/>
          <a:ln>
            <a:solidFill>
              <a:srgbClr val="202020"/>
            </a:solidFill>
          </a:ln>
        </p:spPr>
        <p:txBody>
          <a:bodyPr wrap="square" lIns="0" tIns="0" rIns="0" bIns="0" rtlCol="0" anchor="ctr" anchorCtr="1">
            <a:spAutoFit/>
          </a:bodyPr>
          <a:p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</a:rPr>
              <a:t>/zed/zed_node/left/image_rect_color(bgra8)</a:t>
            </a:r>
            <a:endParaRPr lang="zh-CN" altLang="en-US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/zed/zed_node/</a:t>
            </a:r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right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/image_rect_color(bgra8)</a:t>
            </a:r>
            <a:endParaRPr lang="zh-CN" altLang="en-US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57200" y="1504950"/>
            <a:ext cx="2112010" cy="307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 anchorCtr="1">
            <a:spAutoFit/>
          </a:bodyPr>
          <a:p>
            <a:pPr lvl="0" algn="l">
              <a:buClrTx/>
              <a:buSzTx/>
              <a:buFontTx/>
            </a:pPr>
            <a:r>
              <a:rPr lang="zh-CN" altLang="en-US" sz="1000">
                <a:solidFill>
                  <a:srgbClr val="4874CB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/zed/zed_node/left/camera_info</a:t>
            </a:r>
            <a:endParaRPr lang="zh-CN" altLang="en-US" sz="1000">
              <a:solidFill>
                <a:srgbClr val="4874CB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1000">
                <a:solidFill>
                  <a:srgbClr val="4874CB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/zed/zed_node/</a:t>
            </a:r>
            <a:r>
              <a:rPr lang="en-US" altLang="zh-CN" sz="1000">
                <a:solidFill>
                  <a:srgbClr val="4874CB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right</a:t>
            </a:r>
            <a:r>
              <a:rPr lang="zh-CN" altLang="en-US" sz="1000">
                <a:solidFill>
                  <a:srgbClr val="4874CB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/camera_info</a:t>
            </a:r>
            <a:endParaRPr lang="zh-CN" altLang="en-US" sz="1000">
              <a:solidFill>
                <a:srgbClr val="4874CB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23" name="肘形连接符 22"/>
          <p:cNvCxnSpPr>
            <a:stCxn id="4" idx="2"/>
            <a:endCxn id="15" idx="0"/>
          </p:cNvCxnSpPr>
          <p:nvPr/>
        </p:nvCxnSpPr>
        <p:spPr>
          <a:xfrm rot="5400000" flipV="1">
            <a:off x="2841308" y="238443"/>
            <a:ext cx="484505" cy="202692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2690495" y="2440940"/>
            <a:ext cx="2237105" cy="39878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p>
            <a:r>
              <a:rPr lang="en-US" altLang="zh-CN" sz="1000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</a:rPr>
              <a:t>/uoa</a:t>
            </a:r>
            <a:r>
              <a:rPr lang="zh-CN" altLang="en-US" sz="1000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</a:rPr>
              <a:t>/left/image_rect_color(bgr8)</a:t>
            </a:r>
            <a:endParaRPr lang="zh-CN" altLang="en-US" sz="1000">
              <a:solidFill>
                <a:schemeClr val="accent5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000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/uoa</a:t>
            </a:r>
            <a:r>
              <a:rPr lang="zh-CN" altLang="en-US" sz="1000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/</a:t>
            </a:r>
            <a:r>
              <a:rPr lang="en-US" altLang="zh-CN" sz="1000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right</a:t>
            </a:r>
            <a:r>
              <a:rPr lang="zh-CN" altLang="en-US" sz="1000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/image_rect_color(bgr8)</a:t>
            </a:r>
            <a:endParaRPr lang="zh-CN" altLang="en-US" sz="1000">
              <a:solidFill>
                <a:schemeClr val="accent5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30" name="直接连接符 29"/>
          <p:cNvCxnSpPr>
            <a:endCxn id="28" idx="3"/>
          </p:cNvCxnSpPr>
          <p:nvPr/>
        </p:nvCxnSpPr>
        <p:spPr>
          <a:xfrm flipH="1">
            <a:off x="4927600" y="2639060"/>
            <a:ext cx="280670" cy="1270"/>
          </a:xfrm>
          <a:prstGeom prst="line">
            <a:avLst/>
          </a:prstGeom>
          <a:ln>
            <a:solidFill>
              <a:schemeClr val="accent5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肘形连接符 30"/>
          <p:cNvCxnSpPr>
            <a:stCxn id="28" idx="1"/>
            <a:endCxn id="6" idx="0"/>
          </p:cNvCxnSpPr>
          <p:nvPr/>
        </p:nvCxnSpPr>
        <p:spPr>
          <a:xfrm rot="10800000" flipV="1">
            <a:off x="2106295" y="2640330"/>
            <a:ext cx="584200" cy="154940"/>
          </a:xfrm>
          <a:prstGeom prst="bentConnector2">
            <a:avLst/>
          </a:prstGeom>
          <a:ln>
            <a:solidFill>
              <a:schemeClr val="accent5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5196205" y="3223895"/>
            <a:ext cx="2809240" cy="307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 anchorCtr="1">
            <a:spAutoFit/>
          </a:bodyPr>
          <a:p>
            <a:r>
              <a:rPr sz="100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/uoa/cs5917/left/image_rect_color/compressed</a:t>
            </a:r>
            <a:endParaRPr sz="100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00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/uoa/cs5917/left/image_rect_color/compressed</a:t>
            </a:r>
            <a:endParaRPr sz="100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33" name="直接连接符 32"/>
          <p:cNvCxnSpPr>
            <a:endCxn id="32" idx="0"/>
          </p:cNvCxnSpPr>
          <p:nvPr/>
        </p:nvCxnSpPr>
        <p:spPr>
          <a:xfrm>
            <a:off x="6596380" y="2952115"/>
            <a:ext cx="4445" cy="271780"/>
          </a:xfrm>
          <a:prstGeom prst="line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32" idx="2"/>
            <a:endCxn id="29" idx="0"/>
          </p:cNvCxnSpPr>
          <p:nvPr/>
        </p:nvCxnSpPr>
        <p:spPr>
          <a:xfrm>
            <a:off x="6600825" y="3531235"/>
            <a:ext cx="12065" cy="990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5461635" y="4521835"/>
            <a:ext cx="2292985" cy="3987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 anchorCtr="1">
            <a:spAutoFit/>
          </a:bodyPr>
          <a:p>
            <a:r>
              <a:rPr sz="100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/uoa/cs5917/left/image_rect_color</a:t>
            </a:r>
            <a:endParaRPr sz="100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00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/uoa/cs5917/left/image_rect_color</a:t>
            </a:r>
            <a:endParaRPr sz="100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37" name="直接连接符 36"/>
          <p:cNvCxnSpPr>
            <a:stCxn id="29" idx="2"/>
            <a:endCxn id="36" idx="0"/>
          </p:cNvCxnSpPr>
          <p:nvPr/>
        </p:nvCxnSpPr>
        <p:spPr>
          <a:xfrm flipH="1">
            <a:off x="6608445" y="4257675"/>
            <a:ext cx="4445" cy="264160"/>
          </a:xfrm>
          <a:prstGeom prst="line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肘形连接符 42"/>
          <p:cNvCxnSpPr>
            <a:stCxn id="19" idx="1"/>
            <a:endCxn id="11" idx="2"/>
          </p:cNvCxnSpPr>
          <p:nvPr/>
        </p:nvCxnSpPr>
        <p:spPr>
          <a:xfrm rot="10800000" flipH="1" flipV="1">
            <a:off x="457200" y="1658620"/>
            <a:ext cx="2596515" cy="3568700"/>
          </a:xfrm>
          <a:prstGeom prst="bentConnector3">
            <a:avLst>
              <a:gd name="adj1" fmla="val -9171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肘形连接符 44"/>
          <p:cNvCxnSpPr>
            <a:stCxn id="4" idx="1"/>
            <a:endCxn id="19" idx="0"/>
          </p:cNvCxnSpPr>
          <p:nvPr/>
        </p:nvCxnSpPr>
        <p:spPr>
          <a:xfrm rot="10800000" flipH="1" flipV="1">
            <a:off x="1257300" y="713105"/>
            <a:ext cx="255905" cy="791845"/>
          </a:xfrm>
          <a:prstGeom prst="bentConnector4">
            <a:avLst>
              <a:gd name="adj1" fmla="val -405707"/>
              <a:gd name="adj2" fmla="val 68725"/>
            </a:avLst>
          </a:prstGeom>
          <a:ln>
            <a:headEnd type="none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1598930" y="4337685"/>
            <a:ext cx="970280" cy="2749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p>
            <a:r>
              <a:rPr lang="en-US" sz="1000">
                <a:solidFill>
                  <a:schemeClr val="accent6"/>
                </a:solidFill>
                <a:latin typeface="Times New Roman" panose="02020603050405020304" charset="0"/>
                <a:cs typeface="Times New Roman" panose="02020603050405020304" charset="0"/>
              </a:rPr>
              <a:t>/vo/odom</a:t>
            </a:r>
            <a:endParaRPr lang="en-US" sz="1000">
              <a:solidFill>
                <a:schemeClr val="accent6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50" name="肘形连接符 49"/>
          <p:cNvCxnSpPr>
            <a:stCxn id="47" idx="2"/>
            <a:endCxn id="11" idx="1"/>
          </p:cNvCxnSpPr>
          <p:nvPr/>
        </p:nvCxnSpPr>
        <p:spPr>
          <a:xfrm rot="5400000" flipV="1">
            <a:off x="2526030" y="4170680"/>
            <a:ext cx="393065" cy="1276985"/>
          </a:xfrm>
          <a:prstGeom prst="bentConnector3">
            <a:avLst>
              <a:gd name="adj1" fmla="val 38288"/>
            </a:avLst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连接符 50"/>
          <p:cNvCxnSpPr>
            <a:stCxn id="6" idx="4"/>
            <a:endCxn id="47" idx="0"/>
          </p:cNvCxnSpPr>
          <p:nvPr/>
        </p:nvCxnSpPr>
        <p:spPr>
          <a:xfrm flipH="1">
            <a:off x="2084070" y="3422650"/>
            <a:ext cx="22225" cy="915035"/>
          </a:xfrm>
          <a:prstGeom prst="line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肘形连接符 51"/>
          <p:cNvCxnSpPr>
            <a:stCxn id="36" idx="1"/>
            <a:endCxn id="11" idx="0"/>
          </p:cNvCxnSpPr>
          <p:nvPr/>
        </p:nvCxnSpPr>
        <p:spPr>
          <a:xfrm rot="10800000" flipV="1">
            <a:off x="4102735" y="4721225"/>
            <a:ext cx="1358900" cy="19240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肘形连接符 52"/>
          <p:cNvCxnSpPr>
            <a:stCxn id="36" idx="3"/>
            <a:endCxn id="12" idx="1"/>
          </p:cNvCxnSpPr>
          <p:nvPr/>
        </p:nvCxnSpPr>
        <p:spPr>
          <a:xfrm>
            <a:off x="7754620" y="4721225"/>
            <a:ext cx="662940" cy="28448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流程图: 磁盘 53"/>
          <p:cNvSpPr/>
          <p:nvPr/>
        </p:nvSpPr>
        <p:spPr>
          <a:xfrm>
            <a:off x="5969000" y="5792470"/>
            <a:ext cx="1240155" cy="561975"/>
          </a:xfrm>
          <a:prstGeom prst="flowChartMagneticDisk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database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3592830" y="5951220"/>
            <a:ext cx="1003935" cy="245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 anchorCtr="1">
            <a:spAutoFit/>
          </a:bodyPr>
          <a:p>
            <a:r>
              <a:rPr lang="en-US" sz="100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image_data</a:t>
            </a:r>
            <a:endParaRPr lang="en-US" sz="100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59" name="直接箭头连接符 58"/>
          <p:cNvCxnSpPr>
            <a:stCxn id="56" idx="3"/>
            <a:endCxn id="54" idx="2"/>
          </p:cNvCxnSpPr>
          <p:nvPr/>
        </p:nvCxnSpPr>
        <p:spPr>
          <a:xfrm>
            <a:off x="4596765" y="6073775"/>
            <a:ext cx="13722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>
            <a:stCxn id="11" idx="6"/>
            <a:endCxn id="13" idx="1"/>
          </p:cNvCxnSpPr>
          <p:nvPr/>
        </p:nvCxnSpPr>
        <p:spPr>
          <a:xfrm>
            <a:off x="5151755" y="5227320"/>
            <a:ext cx="1100455" cy="6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>
            <a:stCxn id="12" idx="2"/>
            <a:endCxn id="13" idx="3"/>
          </p:cNvCxnSpPr>
          <p:nvPr/>
        </p:nvCxnSpPr>
        <p:spPr>
          <a:xfrm flipH="1">
            <a:off x="6866255" y="5227320"/>
            <a:ext cx="1243965" cy="6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3" name="流程图: 显示 62"/>
          <p:cNvSpPr/>
          <p:nvPr/>
        </p:nvSpPr>
        <p:spPr>
          <a:xfrm>
            <a:off x="8487410" y="5920740"/>
            <a:ext cx="1343025" cy="323850"/>
          </a:xfrm>
          <a:prstGeom prst="flowChartDisplay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map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64" name="直接连接符 63"/>
          <p:cNvCxnSpPr>
            <a:stCxn id="54" idx="4"/>
            <a:endCxn id="63" idx="1"/>
          </p:cNvCxnSpPr>
          <p:nvPr/>
        </p:nvCxnSpPr>
        <p:spPr>
          <a:xfrm>
            <a:off x="7209155" y="6073775"/>
            <a:ext cx="1278255" cy="88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肘形连接符 64"/>
          <p:cNvCxnSpPr>
            <a:stCxn id="63" idx="3"/>
            <a:endCxn id="10" idx="5"/>
          </p:cNvCxnSpPr>
          <p:nvPr/>
        </p:nvCxnSpPr>
        <p:spPr>
          <a:xfrm flipV="1">
            <a:off x="9830435" y="3692525"/>
            <a:ext cx="1597025" cy="239014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肘形连接符 65"/>
          <p:cNvCxnSpPr>
            <a:stCxn id="47" idx="2"/>
            <a:endCxn id="10" idx="4"/>
          </p:cNvCxnSpPr>
          <p:nvPr/>
        </p:nvCxnSpPr>
        <p:spPr>
          <a:xfrm rot="5400000" flipH="1" flipV="1">
            <a:off x="5963285" y="-94615"/>
            <a:ext cx="828040" cy="8586470"/>
          </a:xfrm>
          <a:prstGeom prst="bentConnector3">
            <a:avLst>
              <a:gd name="adj1" fmla="val -129524"/>
            </a:avLst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8" name="文本框 67"/>
          <p:cNvSpPr txBox="1"/>
          <p:nvPr/>
        </p:nvSpPr>
        <p:spPr>
          <a:xfrm>
            <a:off x="9418955" y="4098290"/>
            <a:ext cx="970280" cy="2749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 anchorCtr="1">
            <a:noAutofit/>
          </a:bodyPr>
          <a:p>
            <a:r>
              <a:rPr lang="en-US" sz="100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/goal_pose</a:t>
            </a:r>
            <a:endParaRPr lang="en-US" sz="100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69" name="直接连接符 68"/>
          <p:cNvCxnSpPr>
            <a:stCxn id="12" idx="7"/>
            <a:endCxn id="68" idx="2"/>
          </p:cNvCxnSpPr>
          <p:nvPr/>
        </p:nvCxnSpPr>
        <p:spPr>
          <a:xfrm flipV="1">
            <a:off x="9900920" y="4373245"/>
            <a:ext cx="3175" cy="632460"/>
          </a:xfrm>
          <a:prstGeom prst="line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stCxn id="68" idx="0"/>
            <a:endCxn id="10" idx="3"/>
          </p:cNvCxnSpPr>
          <p:nvPr/>
        </p:nvCxnSpPr>
        <p:spPr>
          <a:xfrm flipV="1">
            <a:off x="9904095" y="3692525"/>
            <a:ext cx="9525" cy="4057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1" name="文本框 70"/>
          <p:cNvSpPr txBox="1"/>
          <p:nvPr/>
        </p:nvSpPr>
        <p:spPr>
          <a:xfrm>
            <a:off x="7973060" y="1506855"/>
            <a:ext cx="1112520" cy="2749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 anchorCtr="1">
            <a:noAutofit/>
          </a:bodyPr>
          <a:p>
            <a:r>
              <a:rPr lang="en-US" sz="100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/tb3/cmd_vel</a:t>
            </a:r>
            <a:endParaRPr lang="en-US" sz="100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72" name="肘形连接符 71"/>
          <p:cNvCxnSpPr>
            <a:stCxn id="2" idx="7"/>
            <a:endCxn id="71" idx="2"/>
          </p:cNvCxnSpPr>
          <p:nvPr/>
        </p:nvCxnSpPr>
        <p:spPr>
          <a:xfrm rot="16200000" flipV="1">
            <a:off x="8715375" y="1595755"/>
            <a:ext cx="687070" cy="1059815"/>
          </a:xfrm>
          <a:prstGeom prst="bentConnector3">
            <a:avLst>
              <a:gd name="adj1" fmla="val 55037"/>
            </a:avLst>
          </a:prstGeom>
          <a:ln w="1270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肘形连接符 74"/>
          <p:cNvCxnSpPr>
            <a:stCxn id="71" idx="1"/>
            <a:endCxn id="9" idx="2"/>
          </p:cNvCxnSpPr>
          <p:nvPr/>
        </p:nvCxnSpPr>
        <p:spPr>
          <a:xfrm rot="10800000">
            <a:off x="6600190" y="1400175"/>
            <a:ext cx="1372870" cy="24447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2981960" y="3819525"/>
            <a:ext cx="1313180" cy="2749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 anchorCtr="1">
            <a:noAutofit/>
          </a:bodyPr>
          <a:p>
            <a:r>
              <a:rPr lang="en-US" sz="100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/localization_pose</a:t>
            </a:r>
            <a:endParaRPr lang="en-US" sz="100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77" name="肘形连接符 76"/>
          <p:cNvCxnSpPr>
            <a:stCxn id="6" idx="5"/>
            <a:endCxn id="76" idx="1"/>
          </p:cNvCxnSpPr>
          <p:nvPr/>
        </p:nvCxnSpPr>
        <p:spPr>
          <a:xfrm rot="5400000" flipV="1">
            <a:off x="2530793" y="3506153"/>
            <a:ext cx="626745" cy="27559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stCxn id="76" idx="3"/>
            <a:endCxn id="29" idx="1"/>
          </p:cNvCxnSpPr>
          <p:nvPr/>
        </p:nvCxnSpPr>
        <p:spPr>
          <a:xfrm flipV="1">
            <a:off x="4295140" y="3943985"/>
            <a:ext cx="913130" cy="133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9" name="文本框 78"/>
          <p:cNvSpPr txBox="1"/>
          <p:nvPr/>
        </p:nvSpPr>
        <p:spPr>
          <a:xfrm>
            <a:off x="8585835" y="3630295"/>
            <a:ext cx="556260" cy="2749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 anchorCtr="1">
            <a:noAutofit/>
          </a:bodyPr>
          <a:p>
            <a:r>
              <a:rPr lang="en-US" sz="100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/map</a:t>
            </a:r>
            <a:endParaRPr lang="en-US" sz="100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81" name="肘形连接符 80"/>
          <p:cNvCxnSpPr>
            <a:stCxn id="10" idx="2"/>
            <a:endCxn id="79" idx="0"/>
          </p:cNvCxnSpPr>
          <p:nvPr/>
        </p:nvCxnSpPr>
        <p:spPr>
          <a:xfrm rot="10800000" flipV="1">
            <a:off x="8863965" y="3470910"/>
            <a:ext cx="735965" cy="159385"/>
          </a:xfrm>
          <a:prstGeom prst="bentConnector2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肘形连接符 82"/>
          <p:cNvCxnSpPr>
            <a:stCxn id="79" idx="2"/>
            <a:endCxn id="12" idx="0"/>
          </p:cNvCxnSpPr>
          <p:nvPr/>
        </p:nvCxnSpPr>
        <p:spPr>
          <a:xfrm rot="5400000" flipV="1">
            <a:off x="8507413" y="4261803"/>
            <a:ext cx="1008380" cy="295275"/>
          </a:xfrm>
          <a:prstGeom prst="bentConnector3">
            <a:avLst>
              <a:gd name="adj1" fmla="val 49969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1" name="肘形连接符 90"/>
          <p:cNvCxnSpPr>
            <a:stCxn id="29" idx="3"/>
            <a:endCxn id="92" idx="3"/>
          </p:cNvCxnSpPr>
          <p:nvPr/>
        </p:nvCxnSpPr>
        <p:spPr>
          <a:xfrm flipV="1">
            <a:off x="8016875" y="2803525"/>
            <a:ext cx="3783965" cy="1140460"/>
          </a:xfrm>
          <a:prstGeom prst="bentConnector3">
            <a:avLst>
              <a:gd name="adj1" fmla="val 106293"/>
            </a:avLst>
          </a:prstGeom>
          <a:ln>
            <a:solidFill>
              <a:schemeClr val="accent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2" name="文本框 91"/>
          <p:cNvSpPr txBox="1"/>
          <p:nvPr/>
        </p:nvSpPr>
        <p:spPr>
          <a:xfrm>
            <a:off x="10649585" y="2665730"/>
            <a:ext cx="1151255" cy="274955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lIns="0" tIns="0" rIns="0" bIns="0" rtlCol="0" anchor="ctr" anchorCtr="1">
            <a:noAutofit/>
          </a:bodyPr>
          <a:p>
            <a:r>
              <a:rPr lang="en-US" sz="1000">
                <a:solidFill>
                  <a:schemeClr val="accent4"/>
                </a:solidFill>
                <a:latin typeface="Times New Roman" panose="02020603050405020304" charset="0"/>
                <a:cs typeface="Times New Roman" panose="02020603050405020304" charset="0"/>
              </a:rPr>
              <a:t>/uoa/auto_delivery</a:t>
            </a:r>
            <a:endParaRPr lang="en-US" sz="1000">
              <a:solidFill>
                <a:schemeClr val="accent4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93" name="肘形连接符 92"/>
          <p:cNvCxnSpPr>
            <a:stCxn id="92" idx="0"/>
            <a:endCxn id="108" idx="2"/>
          </p:cNvCxnSpPr>
          <p:nvPr/>
        </p:nvCxnSpPr>
        <p:spPr>
          <a:xfrm rot="16200000" flipV="1">
            <a:off x="10067608" y="1507808"/>
            <a:ext cx="1359535" cy="956310"/>
          </a:xfrm>
          <a:prstGeom prst="bentConnector3">
            <a:avLst>
              <a:gd name="adj1" fmla="val 50000"/>
            </a:avLst>
          </a:prstGeom>
          <a:ln>
            <a:solidFill>
              <a:schemeClr val="accent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5" name="文本框 94"/>
          <p:cNvSpPr txBox="1"/>
          <p:nvPr/>
        </p:nvSpPr>
        <p:spPr>
          <a:xfrm>
            <a:off x="4030345" y="575310"/>
            <a:ext cx="378460" cy="2749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 anchorCtr="1">
            <a:noAutofit/>
          </a:bodyPr>
          <a:p>
            <a:r>
              <a:rPr lang="en-US" sz="1000">
                <a:solidFill>
                  <a:srgbClr val="4874CB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TF</a:t>
            </a:r>
            <a:endParaRPr lang="en-US" sz="1000">
              <a:solidFill>
                <a:srgbClr val="4874CB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96" name="直接箭头连接符 95"/>
          <p:cNvCxnSpPr>
            <a:stCxn id="95" idx="1"/>
            <a:endCxn id="4" idx="3"/>
          </p:cNvCxnSpPr>
          <p:nvPr/>
        </p:nvCxnSpPr>
        <p:spPr>
          <a:xfrm flipH="1">
            <a:off x="2882900" y="713105"/>
            <a:ext cx="11474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>
            <a:stCxn id="95" idx="3"/>
            <a:endCxn id="9" idx="1"/>
          </p:cNvCxnSpPr>
          <p:nvPr/>
        </p:nvCxnSpPr>
        <p:spPr>
          <a:xfrm flipV="1">
            <a:off x="4408805" y="706120"/>
            <a:ext cx="1043305" cy="6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0" name="肘形连接符 99"/>
          <p:cNvCxnSpPr>
            <a:stCxn id="6" idx="6"/>
            <a:endCxn id="79" idx="1"/>
          </p:cNvCxnSpPr>
          <p:nvPr/>
        </p:nvCxnSpPr>
        <p:spPr>
          <a:xfrm>
            <a:off x="2954655" y="3108960"/>
            <a:ext cx="5631180" cy="659130"/>
          </a:xfrm>
          <a:prstGeom prst="bentConnector3">
            <a:avLst>
              <a:gd name="adj1" fmla="val 95500"/>
            </a:avLst>
          </a:prstGeom>
          <a:ln w="1270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3" name="文本框 102"/>
          <p:cNvSpPr txBox="1"/>
          <p:nvPr/>
        </p:nvSpPr>
        <p:spPr>
          <a:xfrm>
            <a:off x="6051550" y="6442075"/>
            <a:ext cx="1157605" cy="27495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Autofit/>
          </a:bodyPr>
          <a:p>
            <a:pPr marL="0" indent="0" algn="l">
              <a:spcAft>
                <a:spcPct val="0"/>
              </a:spcAft>
            </a:pPr>
            <a:r>
              <a:rPr lang="en-US" altLang="zh-CN" sz="1000">
                <a:solidFill>
                  <a:srgbClr val="00B0F0"/>
                </a:solidFill>
                <a:latin typeface="Times New Roman" panose="02020603050405020304" charset="0"/>
                <a:ea typeface="宋体"/>
                <a:cs typeface="Times New Roman" panose="02020603050405020304" charset="0"/>
                <a:sym typeface="+mn-ea"/>
              </a:rPr>
              <a:t>/cloud_obstacles</a:t>
            </a:r>
            <a:endParaRPr lang="en-US" altLang="zh-CN" sz="1000">
              <a:solidFill>
                <a:srgbClr val="00B0F0"/>
              </a:solidFill>
              <a:latin typeface="Times New Roman" panose="02020603050405020304" charset="0"/>
              <a:ea typeface="宋体"/>
              <a:cs typeface="Times New Roman" panose="02020603050405020304" charset="0"/>
              <a:sym typeface="+mn-ea"/>
            </a:endParaRPr>
          </a:p>
        </p:txBody>
      </p:sp>
      <p:cxnSp>
        <p:nvCxnSpPr>
          <p:cNvPr id="104" name="肘形连接符 103"/>
          <p:cNvCxnSpPr>
            <a:stCxn id="6" idx="2"/>
            <a:endCxn id="103" idx="1"/>
          </p:cNvCxnSpPr>
          <p:nvPr/>
        </p:nvCxnSpPr>
        <p:spPr>
          <a:xfrm rot="10800000" flipH="1" flipV="1">
            <a:off x="1257300" y="3108960"/>
            <a:ext cx="4794250" cy="3470910"/>
          </a:xfrm>
          <a:prstGeom prst="bentConnector3">
            <a:avLst>
              <a:gd name="adj1" fmla="val -4967"/>
            </a:avLst>
          </a:prstGeom>
          <a:ln>
            <a:solidFill>
              <a:srgbClr val="00B0F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5" name="肘形连接符 104"/>
          <p:cNvCxnSpPr>
            <a:stCxn id="103" idx="3"/>
            <a:endCxn id="10" idx="6"/>
          </p:cNvCxnSpPr>
          <p:nvPr/>
        </p:nvCxnSpPr>
        <p:spPr>
          <a:xfrm flipV="1">
            <a:off x="7209155" y="3470910"/>
            <a:ext cx="4531995" cy="3108960"/>
          </a:xfrm>
          <a:prstGeom prst="bentConnector3">
            <a:avLst>
              <a:gd name="adj1" fmla="val 105254"/>
            </a:avLst>
          </a:prstGeom>
          <a:ln>
            <a:solidFill>
              <a:srgbClr val="00B0F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6" name="肘形连接符 105"/>
          <p:cNvCxnSpPr>
            <a:stCxn id="10" idx="1"/>
            <a:endCxn id="71" idx="3"/>
          </p:cNvCxnSpPr>
          <p:nvPr/>
        </p:nvCxnSpPr>
        <p:spPr>
          <a:xfrm rot="16200000" flipV="1">
            <a:off x="8697278" y="2032953"/>
            <a:ext cx="1604645" cy="828040"/>
          </a:xfrm>
          <a:prstGeom prst="bentConnector2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>
            <a:stCxn id="19" idx="2"/>
            <a:endCxn id="6" idx="1"/>
          </p:cNvCxnSpPr>
          <p:nvPr/>
        </p:nvCxnSpPr>
        <p:spPr>
          <a:xfrm flipH="1">
            <a:off x="1505585" y="1812290"/>
            <a:ext cx="7620" cy="10750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8" name="图片 107"/>
          <p:cNvPicPr/>
          <p:nvPr/>
        </p:nvPicPr>
        <p:blipFill>
          <a:blip r:embed="rId4"/>
          <a:srcRect l="10481" t="23343" r="10176" b="24231"/>
        </p:blipFill>
        <p:spPr>
          <a:xfrm>
            <a:off x="9085580" y="74295"/>
            <a:ext cx="2366645" cy="12319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98270" y="205740"/>
            <a:ext cx="1498600" cy="368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Stereo Camera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568305" y="103505"/>
            <a:ext cx="795655" cy="368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Drone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8188325" y="2399665"/>
            <a:ext cx="1641475" cy="47180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teleop_keyboard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7" name="肘形连接符 16"/>
          <p:cNvCxnSpPr/>
          <p:nvPr/>
        </p:nvCxnSpPr>
        <p:spPr>
          <a:xfrm rot="5400000" flipV="1">
            <a:off x="4594413" y="1316543"/>
            <a:ext cx="484505" cy="147600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肘形连接符 7"/>
          <p:cNvCxnSpPr>
            <a:stCxn id="6" idx="3"/>
            <a:endCxn id="56" idx="1"/>
          </p:cNvCxnSpPr>
          <p:nvPr/>
        </p:nvCxnSpPr>
        <p:spPr>
          <a:xfrm rot="5400000" flipV="1">
            <a:off x="1177290" y="3658235"/>
            <a:ext cx="2743200" cy="208724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3220720" y="2764790"/>
            <a:ext cx="1074420" cy="198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>
                <a:solidFill>
                  <a:srgbClr val="4874CB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mapping &amp; </a:t>
            </a:r>
            <a:endParaRPr lang="en-US" altLang="zh-CN" sz="1000">
              <a:solidFill>
                <a:srgbClr val="4874CB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000">
                <a:solidFill>
                  <a:srgbClr val="4874CB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localization &amp;</a:t>
            </a:r>
            <a:endParaRPr lang="en-US" altLang="zh-CN" sz="1000">
              <a:solidFill>
                <a:srgbClr val="4874CB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000">
                <a:solidFill>
                  <a:srgbClr val="4874CB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drone delivery</a:t>
            </a:r>
            <a:endParaRPr lang="en-US" altLang="zh-CN" sz="1000">
              <a:solidFill>
                <a:srgbClr val="4874CB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000">
                <a:solidFill>
                  <a:srgbClr val="4874CB"/>
                </a:solidFill>
                <a:latin typeface="Times New Roman" panose="02020603050405020304" charset="0"/>
                <a:cs typeface="Times New Roman" panose="02020603050405020304" charset="0"/>
              </a:rPr>
              <a:t>stages</a:t>
            </a:r>
            <a:endParaRPr lang="en-US" altLang="zh-CN" sz="1000">
              <a:solidFill>
                <a:srgbClr val="4874C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236075" y="1449705"/>
            <a:ext cx="809625" cy="197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>
                <a:solidFill>
                  <a:srgbClr val="4874CB"/>
                </a:solidFill>
                <a:latin typeface="Times New Roman" panose="02020603050405020304" charset="0"/>
                <a:cs typeface="Times New Roman" panose="02020603050405020304" charset="0"/>
              </a:rPr>
              <a:t>navigation stage</a:t>
            </a:r>
            <a:endParaRPr lang="en-US" altLang="zh-CN" sz="1000">
              <a:solidFill>
                <a:srgbClr val="4874C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893810" y="3261360"/>
            <a:ext cx="809625" cy="197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>
                <a:solidFill>
                  <a:srgbClr val="4874CB"/>
                </a:solidFill>
                <a:latin typeface="Times New Roman" panose="02020603050405020304" charset="0"/>
                <a:cs typeface="Times New Roman" panose="02020603050405020304" charset="0"/>
              </a:rPr>
              <a:t>navigation stage</a:t>
            </a:r>
            <a:endParaRPr lang="en-US" altLang="zh-CN" sz="1000">
              <a:solidFill>
                <a:srgbClr val="4874C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577580" y="1732280"/>
            <a:ext cx="1323975" cy="564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>
                <a:solidFill>
                  <a:srgbClr val="4874CB"/>
                </a:solidFill>
                <a:latin typeface="Times New Roman" panose="02020603050405020304" charset="0"/>
                <a:cs typeface="Times New Roman" panose="02020603050405020304" charset="0"/>
              </a:rPr>
              <a:t>mapping &amp; </a:t>
            </a:r>
            <a:endParaRPr lang="en-US" altLang="zh-CN" sz="1000">
              <a:solidFill>
                <a:srgbClr val="4874CB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000">
                <a:solidFill>
                  <a:srgbClr val="4874CB"/>
                </a:solidFill>
                <a:latin typeface="Times New Roman" panose="02020603050405020304" charset="0"/>
                <a:cs typeface="Times New Roman" panose="02020603050405020304" charset="0"/>
              </a:rPr>
              <a:t>localization &amp;</a:t>
            </a:r>
            <a:endParaRPr lang="en-US" altLang="zh-CN" sz="1000">
              <a:solidFill>
                <a:srgbClr val="4874CB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000">
                <a:solidFill>
                  <a:srgbClr val="4874CB"/>
                </a:solidFill>
                <a:latin typeface="Times New Roman" panose="02020603050405020304" charset="0"/>
                <a:cs typeface="Times New Roman" panose="02020603050405020304" charset="0"/>
              </a:rPr>
              <a:t>drone delivery</a:t>
            </a:r>
            <a:endParaRPr lang="en-US" altLang="zh-CN" sz="1000">
              <a:solidFill>
                <a:srgbClr val="4874CB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000">
                <a:solidFill>
                  <a:srgbClr val="4874CB"/>
                </a:solidFill>
                <a:latin typeface="Times New Roman" panose="02020603050405020304" charset="0"/>
                <a:cs typeface="Times New Roman" panose="02020603050405020304" charset="0"/>
              </a:rPr>
              <a:t>stages</a:t>
            </a:r>
            <a:endParaRPr lang="en-US" altLang="zh-CN" sz="1000">
              <a:solidFill>
                <a:srgbClr val="4874C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1" name="肘形连接符 20"/>
          <p:cNvCxnSpPr>
            <a:stCxn id="68" idx="1"/>
          </p:cNvCxnSpPr>
          <p:nvPr/>
        </p:nvCxnSpPr>
        <p:spPr>
          <a:xfrm rot="10800000">
            <a:off x="8018145" y="4082415"/>
            <a:ext cx="1400175" cy="153035"/>
          </a:xfrm>
          <a:prstGeom prst="bentConnector3">
            <a:avLst>
              <a:gd name="adj1" fmla="val 49977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0395" y="776605"/>
            <a:ext cx="7861300" cy="44316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5095" y="1156970"/>
            <a:ext cx="7862400" cy="44322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4050" y="200025"/>
            <a:ext cx="8343900" cy="6457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zh-CN" altLang="en-US" sz="100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709</Words>
  <Application>WPS 演示</Application>
  <PresentationFormat>宽屏</PresentationFormat>
  <Paragraphs>71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7" baseType="lpstr">
      <vt:lpstr>Arial</vt:lpstr>
      <vt:lpstr>宋体</vt:lpstr>
      <vt:lpstr>Wingdings</vt:lpstr>
      <vt:lpstr>Times New Roman</vt:lpstr>
      <vt:lpstr>宋体</vt:lpstr>
      <vt:lpstr>文泉驿微米黑</vt:lpstr>
      <vt:lpstr>微软雅黑</vt:lpstr>
      <vt:lpstr>宋体</vt:lpstr>
      <vt:lpstr>Arial Unicode MS</vt:lpstr>
      <vt:lpstr>Calibri Light</vt:lpstr>
      <vt:lpstr>Calibri</vt:lpstr>
      <vt:lpstr>Trebuchet MS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陈健</cp:lastModifiedBy>
  <cp:revision>26</cp:revision>
  <dcterms:created xsi:type="dcterms:W3CDTF">2025-08-16T21:09:57Z</dcterms:created>
  <dcterms:modified xsi:type="dcterms:W3CDTF">2025-08-16T21:09:57Z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2052-12.1.0.17900</vt:lpwstr>
  </property>
  <property fmtid="{D5CDD505-2E9C-101B-9397-08002B2CF9AE}" pid="3" name="ICV">
    <vt:lpwstr>05A71A25890160C3F85D986857E807FE_41</vt:lpwstr>
  </property>
</Properties>
</file>